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90000"/>
              </a:lnSpc>
              <a:defRPr sz="4800" b="1">
                <a:solidFill>
                  <a:srgbClr val="000000"/>
                </a:solidFill>
                <a:latin typeface="Helvetica"/>
              </a:defRPr>
            </a:pPr>
            <a:r>
              <a:t>MACE-Gaussian</a:t>
            </a:r>
          </a:p>
          <a:p>
            <a:r>
              <a:t>Interface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3931920"/>
            <a:ext cx="27432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42062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08080"/>
                </a:solidFill>
                <a:latin typeface="Helvetica"/>
              </a:defRPr>
            </a:pPr>
            <a:r>
              <a:t>ML-Accelerated Anharmonic IR Spectroscopy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Helvetica"/>
              </a:defRPr>
            </a:pPr>
            <a:r>
              <a:t>Overview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097280"/>
            <a:ext cx="786384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64592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0000"/>
                </a:solidFill>
              </a:defRPr>
            </a:pPr>
            <a:r>
              <a:t>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4592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  <a:latin typeface="Helvetica"/>
              </a:defRPr>
            </a:pPr>
            <a:r>
              <a:t>Hybrid ML-QM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0000"/>
                </a:solidFill>
              </a:defRPr>
            </a:pPr>
            <a:r>
              <a:t>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24028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  <a:latin typeface="Helvetica"/>
              </a:defRPr>
            </a:pPr>
            <a:r>
              <a:t>10-100× computational speedup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0000"/>
                </a:solidFill>
              </a:defRPr>
            </a:pPr>
            <a:r>
              <a:t>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83464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  <a:latin typeface="Helvetica"/>
              </a:defRPr>
            </a:pPr>
            <a:r>
              <a:t>Comparable accuracy to pure DFT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2900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0000"/>
                </a:solidFill>
              </a:defRPr>
            </a:pPr>
            <a:r>
              <a:t>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42900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  <a:latin typeface="Helvetica"/>
              </a:defRPr>
            </a:pPr>
            <a:r>
              <a:t>Novel ZMQ bridge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0000"/>
                </a:solidFill>
              </a:defRPr>
            </a:pPr>
            <a:r>
              <a:t>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02336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  <a:latin typeface="Helvetica"/>
              </a:defRPr>
            </a:pPr>
            <a:r>
              <a:t>Automated validation pipeline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1">
                <a:solidFill>
                  <a:srgbClr val="000000"/>
                </a:solidFill>
                <a:latin typeface="Helvetica"/>
              </a:defRPr>
            </a:pPr>
            <a:r>
              <a:t>100×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2286000"/>
            <a:ext cx="3200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 sz="2000">
                <a:solidFill>
                  <a:srgbClr val="808080"/>
                </a:solidFill>
                <a:latin typeface="Helvetica"/>
              </a:defRPr>
            </a:pPr>
            <a:r>
              <a:t>Faster than</a:t>
            </a:r>
          </a:p>
          <a:p>
            <a:r>
              <a:t>traditional DFT</a:t>
            </a:r>
          </a:p>
          <a:p>
            <a:r>
              <a:t>anharmonic</a:t>
            </a:r>
          </a:p>
          <a:p>
            <a:r>
              <a:t>calculations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