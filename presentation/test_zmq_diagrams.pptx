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8A6FF"/>
                </a:solidFill>
                <a:latin typeface="Consolas"/>
              </a:defRPr>
            </a:pPr>
            <a:r>
              <a:t>$ cat zmq_bridge_circular.txt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73152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58A6FF"/>
                </a:solidFill>
                <a:latin typeface="Consolas"/>
              </a:defRPr>
            </a:pPr>
            <a:r>
              <a:t>┌─────────────────────────────────────────────┐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58A6FF"/>
                </a:solidFill>
                <a:latin typeface="Consolas"/>
              </a:defRPr>
            </a:pPr>
            <a:r>
              <a:t>│  Main Python Process (gm_main.py)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│  • Creates ZMQ socket (server) 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│  • Launches Gaussian subprocess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│  • Calculates ML dipoles       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58A6FF"/>
                </a:solidFill>
                <a:latin typeface="Consolas"/>
              </a:defRPr>
            </a:pPr>
            <a:r>
              <a:t>└─────────────────────────────────────────────┘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       │                        ▲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       │ launches               │ ZMQ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       ▼                        │ socket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57AB5A"/>
                </a:solidFill>
                <a:latin typeface="Consolas"/>
              </a:defRPr>
            </a:pPr>
            <a:r>
              <a:t>┌─────────────────────────────────────────────┐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57AB5A"/>
                </a:solidFill>
                <a:latin typeface="Consolas"/>
              </a:defRPr>
            </a:pPr>
            <a:r>
              <a:t>│  Gaussian 16 (Fortran)          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│  • Frequency calculation        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│  • Calls External="gm_helper.py"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57AB5A"/>
                </a:solidFill>
                <a:latin typeface="Consolas"/>
              </a:defRPr>
            </a:pPr>
            <a:r>
              <a:t>└─────────────────────────────────────────────┘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       │                        ▲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       │ calls                  │ returns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       ▼            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DB6D28"/>
                </a:solidFill>
                <a:latin typeface="Consolas"/>
              </a:defRPr>
            </a:pPr>
            <a:r>
              <a:t>┌─────────────────────────────────────────────┐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DB6D28"/>
                </a:solidFill>
                <a:latin typeface="Consolas"/>
              </a:defRPr>
            </a:pPr>
            <a:r>
              <a:t>│  Helper Script (gm_helper.py)   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│  • Connects to ZMQ socket       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│  • Sends geometry file paths    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│  • Waits for 'done' signal      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│  • Returns to Gaussian          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DB6D28"/>
                </a:solidFill>
                <a:latin typeface="Consolas"/>
              </a:defRPr>
            </a:pPr>
            <a:r>
              <a:t>└─────────────────────────────────────────────┘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8A6FF"/>
                </a:solidFill>
                <a:latin typeface="Consolas"/>
              </a:defRPr>
            </a:pPr>
            <a:r>
              <a:t>$ cat zmq_bridge_side_by_side.txt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┌─────────────────────┐        ┌─────────────────────┐</a:t>
            </a:r>
          </a:p>
          <a:p>
            <a:pPr>
              <a:spcAft>
                <a:spcPts val="20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│  Main Process       │◀──────▶│  Gaussian 16        │</a:t>
            </a:r>
          </a:p>
          <a:p>
            <a:pPr>
              <a:spcAft>
                <a:spcPts val="20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│  (Python)           │  ZMQ   │  (Fortran)          │</a:t>
            </a:r>
          </a:p>
          <a:p>
            <a:pPr>
              <a:spcAft>
                <a:spcPts val="20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│                     │        │                     │</a:t>
            </a:r>
          </a:p>
          <a:p>
            <a:pPr>
              <a:spcAft>
                <a:spcPts val="20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│  • ZMQ server       │        │  • Freq calculation │</a:t>
            </a:r>
          </a:p>
          <a:p>
            <a:pPr>
              <a:spcAft>
                <a:spcPts val="20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│  • ML dipole calc   │        │  • Calls external   │</a:t>
            </a:r>
          </a:p>
          <a:p>
            <a:pPr>
              <a:spcAft>
                <a:spcPts val="20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└─────────────────────┘        └─────────────────────┘</a:t>
            </a:r>
          </a:p>
          <a:p>
            <a:pPr>
              <a:spcAft>
                <a:spcPts val="20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       ▲                                 │</a:t>
            </a:r>
          </a:p>
          <a:p>
            <a:pPr>
              <a:spcAft>
                <a:spcPts val="20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       │                                 │</a:t>
            </a:r>
          </a:p>
          <a:p>
            <a:pPr>
              <a:spcAft>
                <a:spcPts val="20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       │         ZMQ socket              │</a:t>
            </a:r>
          </a:p>
          <a:p>
            <a:pPr>
              <a:spcAft>
                <a:spcPts val="20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       │                                 ▼</a:t>
            </a:r>
          </a:p>
          <a:p>
            <a:pPr>
              <a:spcAft>
                <a:spcPts val="20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       │          ┌─────────────────────────────┐</a:t>
            </a:r>
          </a:p>
          <a:p>
            <a:pPr>
              <a:spcAft>
                <a:spcPts val="20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       └──────────│  Helper (gm_helper.py)      │</a:t>
            </a:r>
          </a:p>
          <a:p>
            <a:pPr>
              <a:spcAft>
                <a:spcPts val="20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                  │  • Bridge between processes │</a:t>
            </a:r>
          </a:p>
          <a:p>
            <a:pPr>
              <a:spcAft>
                <a:spcPts val="20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                  │  • Sends file paths         │</a:t>
            </a:r>
          </a:p>
          <a:p>
            <a:pPr>
              <a:spcAft>
                <a:spcPts val="20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                  │  • Waits for completion     │</a:t>
            </a:r>
          </a:p>
          <a:p>
            <a:pPr>
              <a:spcAft>
                <a:spcPts val="20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                  └─────────────────────────────┘</a:t>
            </a:r>
          </a:p>
          <a:p>
            <a:pPr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100">
                <a:solidFill>
                  <a:srgbClr val="58A6FF"/>
                </a:solidFill>
                <a:latin typeface="Consolas"/>
              </a:defRPr>
            </a:pPr>
            <a:r>
              <a:t>Flow:</a:t>
            </a:r>
          </a:p>
          <a:p>
            <a:pPr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  1. Main launches Gaussian with External directive</a:t>
            </a:r>
          </a:p>
          <a:p>
            <a:pPr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  2. Gaussian calls helper when dipoles needed</a:t>
            </a:r>
          </a:p>
          <a:p>
            <a:pPr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  3. Helper connects to main via ZMQ</a:t>
            </a:r>
          </a:p>
          <a:p>
            <a:pPr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  4. Main calculates dipoles, writes output</a:t>
            </a:r>
          </a:p>
          <a:p>
            <a:pPr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  5. Helper returns to Gaussian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8A6FF"/>
                </a:solidFill>
                <a:latin typeface="Consolas"/>
              </a:defRPr>
            </a:pPr>
            <a:r>
              <a:t>$ cat zmq_bridge_detailed.txt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768096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╔═══════════════════════════════════════════════════════╗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║  Main Process: gm_main.py (Python + ASE + MACE)      ║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╚═══════════════════════════════════════════════════════╝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     │ (1) Create ZMQ socket, bind to .ipc_file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     │ (2) Generate Gaussian input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     ▼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7AB5A"/>
                </a:solidFill>
                <a:latin typeface="Consolas"/>
              </a:defRPr>
            </a:pPr>
            <a:r>
              <a:t>╔═══════════════════════════════════════════════════════╗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7AB5A"/>
                </a:solidFill>
                <a:latin typeface="Consolas"/>
              </a:defRPr>
            </a:pPr>
            <a:r>
              <a:t>║  Gaussian 16: Frequency Calculation                   ║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║  Route: # freq (anharm) external="gm_helper.py"       ║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7AB5A"/>
                </a:solidFill>
                <a:latin typeface="Consolas"/>
              </a:defRPr>
            </a:pPr>
            <a:r>
              <a:t>╚═══════════════════════════════════════════════════════╝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     │ (3) During freq calc: call external program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     ▼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╔═══════════════════════════════════════════════════════╗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║  Helper Script: gm_helper.py                          ║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╚═══════════════════════════════════════════════════════╝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     │ (4) Connect to ZMQ socket (.ipc_file)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     │ (5) Send: "infile|outfile"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     ▼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╔═══════════════════════════════════════════════════════╗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║  Main Process: ZMQ Handler                            ║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╚═══════════════════════════════════════════════════════╝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     │ (6) Read geometry from infile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     │ (7) Calculate ML dipoles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     │ (8) Write Gaussian format to outfile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     │ (9) Send: "done"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     ▼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╔═══════════════════════════════════════════════════════╗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║  Helper: gm_helper.py                                 ║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╚═══════════════════════════════════════════════════════╝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     │ (10) Receive "done", return to Gaussian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     ▼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7AB5A"/>
                </a:solidFill>
                <a:latin typeface="Consolas"/>
              </a:defRPr>
            </a:pPr>
            <a:r>
              <a:t>╔═══════════════════════════════════════════════════════╗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7AB5A"/>
                </a:solidFill>
                <a:latin typeface="Consolas"/>
              </a:defRPr>
            </a:pPr>
            <a:r>
              <a:t>║  Gaussian 16: Continue calculation                    ║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7AB5A"/>
                </a:solidFill>
                <a:latin typeface="Consolas"/>
              </a:defRPr>
            </a:pPr>
            <a:r>
              <a:t>╚═══════════════════════════════════════════════════════╝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8A6FF"/>
                </a:solidFill>
                <a:latin typeface="Consolas"/>
              </a:defRPr>
            </a:pPr>
            <a:r>
              <a:t>$ cat zmq_bridge.txt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371600"/>
            <a:ext cx="694944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  <a:defRPr sz="1200">
                <a:solidFill>
                  <a:srgbClr val="58A6FF"/>
                </a:solidFill>
                <a:latin typeface="Consolas"/>
              </a:defRPr>
            </a:pPr>
            <a:r>
              <a:t>┌───────────────────────────────────────┐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200">
                <a:solidFill>
                  <a:srgbClr val="58A6FF"/>
                </a:solidFill>
                <a:latin typeface="Consolas"/>
              </a:defRPr>
            </a:pPr>
            <a:r>
              <a:t>│  Main Process (gm_main.py)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200">
                <a:solidFill>
                  <a:srgbClr val="C9D1D9"/>
                </a:solidFill>
                <a:latin typeface="Consolas"/>
              </a:defRPr>
            </a:pPr>
            <a:r>
              <a:t>│  → ZMQ server             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200">
                <a:solidFill>
                  <a:srgbClr val="C9D1D9"/>
                </a:solidFill>
                <a:latin typeface="Consolas"/>
              </a:defRPr>
            </a:pPr>
            <a:r>
              <a:t>│  → ML dipole calculations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200">
                <a:solidFill>
                  <a:srgbClr val="58A6FF"/>
                </a:solidFill>
                <a:latin typeface="Consolas"/>
              </a:defRPr>
            </a:pPr>
            <a:r>
              <a:t>└───────────────────────────────────────┘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200">
                <a:solidFill>
                  <a:srgbClr val="8B949E"/>
                </a:solidFill>
                <a:latin typeface="Consolas"/>
              </a:defRPr>
            </a:pPr>
            <a:r>
              <a:t>    ▲                  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200">
                <a:solidFill>
                  <a:srgbClr val="8B949E"/>
                </a:solidFill>
                <a:latin typeface="Consolas"/>
              </a:defRPr>
            </a:pPr>
            <a:r>
              <a:t>    │                              │ launches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200">
                <a:solidFill>
                  <a:srgbClr val="8B949E"/>
                </a:solidFill>
                <a:latin typeface="Consolas"/>
              </a:defRPr>
            </a:pPr>
            <a:r>
              <a:t>    │ ZMQ socket                   ▼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200">
                <a:solidFill>
                  <a:srgbClr val="57AB5A"/>
                </a:solidFill>
                <a:latin typeface="Consolas"/>
              </a:defRPr>
            </a:pPr>
            <a:r>
              <a:t>    │         ┌───────────────────────────────────────┐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200">
                <a:solidFill>
                  <a:srgbClr val="57AB5A"/>
                </a:solidFill>
                <a:latin typeface="Consolas"/>
              </a:defRPr>
            </a:pPr>
            <a:r>
              <a:t>    │         │  Gaussian 16              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200">
                <a:solidFill>
                  <a:srgbClr val="C9D1D9"/>
                </a:solidFill>
                <a:latin typeface="Consolas"/>
              </a:defRPr>
            </a:pPr>
            <a:r>
              <a:t>    │         │  → Frequency calculation  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200">
                <a:solidFill>
                  <a:srgbClr val="57AB5A"/>
                </a:solidFill>
                <a:latin typeface="Consolas"/>
              </a:defRPr>
            </a:pPr>
            <a:r>
              <a:t>    │         └───────────────────────────────────────┘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200">
                <a:solidFill>
                  <a:srgbClr val="8B949E"/>
                </a:solidFill>
                <a:latin typeface="Consolas"/>
              </a:defRPr>
            </a:pPr>
            <a:r>
              <a:t>    │                  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200">
                <a:solidFill>
                  <a:srgbClr val="8B949E"/>
                </a:solidFill>
                <a:latin typeface="Consolas"/>
              </a:defRPr>
            </a:pPr>
            <a:r>
              <a:t>    │                              │ calls external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200">
                <a:solidFill>
                  <a:srgbClr val="8B949E"/>
                </a:solidFill>
                <a:latin typeface="Consolas"/>
              </a:defRPr>
            </a:pPr>
            <a:r>
              <a:t>    │                              ▼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200">
                <a:solidFill>
                  <a:srgbClr val="DB6D28"/>
                </a:solidFill>
                <a:latin typeface="Consolas"/>
              </a:defRPr>
            </a:pPr>
            <a:r>
              <a:t>    │         ┌───────────────────────────────────────┐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200">
                <a:solidFill>
                  <a:srgbClr val="DB6D28"/>
                </a:solidFill>
                <a:latin typeface="Consolas"/>
              </a:defRPr>
            </a:pPr>
            <a:r>
              <a:t>    └─────────│  Helper Script (gm_helper.py)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200">
                <a:solidFill>
                  <a:srgbClr val="C9D1D9"/>
                </a:solidFill>
                <a:latin typeface="Consolas"/>
              </a:defRPr>
            </a:pPr>
            <a:r>
              <a:t>              │  → Connects main ↔ Gaussian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200">
                <a:solidFill>
                  <a:srgbClr val="DB6D28"/>
                </a:solidFill>
                <a:latin typeface="Consolas"/>
              </a:defRPr>
            </a:pPr>
            <a:r>
              <a:t>              └───────────────────────────────────────┘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