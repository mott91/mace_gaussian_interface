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12121"/>
                </a:solidFill>
                <a:latin typeface="Helvetica"/>
              </a:defRPr>
            </a:pPr>
            <a:r>
              <a:t>MACE-Gaussian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6464"/>
                </a:solidFill>
                <a:latin typeface="Helvetica"/>
              </a:defRPr>
            </a:pPr>
            <a:r>
              <a:t>ML-Accelerated Anharmonic IR Spectroscopy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Helvetica"/>
              </a:defRPr>
            </a:pPr>
            <a:r>
              <a:t>Your Name  ·  Research Group  ·  November 2025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4114800"/>
            <a:ext cx="3657600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Anharmonic spectroscopy is computationally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DFT calculations: hours to days per molecule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Critical for accurate IR prediction (overtones, combinations)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ML potentials offer orders of magnitude speedup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Can we maintain accuracy while reducing cost?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Hybrid ML-QM Approach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Use ML for fast components: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Geometry optimization (MACE-MP/OMOL)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Force constants (Hessian)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Dipole moment derivatives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Use Gaussian for anharmonic corrections: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VPT2 perturbation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319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Overtones and combination bands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Result: 10-100× faster with comparable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Helvetica"/>
              </a:defRPr>
            </a:pPr>
            <a:r>
              <a:t>[Image: assets/flowcharts/workflow_terminal_minimal.png]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Helvetica"/>
              </a:defRPr>
            </a:pPr>
            <a:r>
              <a:t>End-to-end pipeline from XYZ input to HTML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Technical Innovation: ZMQ Bridge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Gaussian (Fortran) needs Python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No direct FFI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Solution: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Inter-process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ZMQ message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Unix socket IPC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1280160"/>
            <a:ext cx="0" cy="512064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Mechanism: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1874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Main script: ZMQ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Helper script: ZMQ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Gaussian calls helper via External=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Real-time bidirectional data injection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ZMQ Communication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Helvetica"/>
              </a:defRPr>
            </a:pPr>
            <a:r>
              <a:t>[Image: assets/flowcharts/zmq_terminal_minimal.png]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Helvetica"/>
              </a:defRPr>
            </a:pPr>
            <a:r>
              <a:t>Inter-process communication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Implementation: ZMQ Bridge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onsolas"/>
              </a:defRPr>
            </a:pPr>
            <a:r>
              <a:t>// Code snippet</a:t>
            </a:r>
          </a:p>
          <a:p>
            <a:r>
              <a:t>assets/code_snippets/pygments_material.png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Module Swapping Mechanism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Helvetica"/>
              </a:defRPr>
            </a:pPr>
            <a:r>
              <a:t>[Image: assets/flowcharts/module_swap_terminal_minimal.png]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Helvetica"/>
              </a:defRPr>
            </a:pPr>
            <a:r>
              <a:t>Dynamic switching between standard and dipole-enabled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Results: Spectrum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Helvetica"/>
              </a:defRPr>
            </a:pPr>
            <a:r>
              <a:t>[Image: assets/plots/sample_spectrum.png]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Helvetica"/>
              </a:defRPr>
            </a:pPr>
            <a:r>
              <a:t>ML vs DFT anharmonic IR spectra (example: water)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Validation Strategy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Rigorous mode-by-mode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Eigenvector-based mode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Handles frequency errors and mode crossing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Statistical metrics: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MAE, RMSE, R² for frequencies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Intensity correlations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31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Multiple ML methods 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434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MACE-MP, MACE-OMOL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54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548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Espaloma, custom MACE-ML dipoles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E81AC"/>
                </a:solidFill>
                <a:latin typeface="Helvetica"/>
              </a:defRPr>
            </a:pPr>
            <a:r>
              <a:t>Impact &amp; Future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Helvetica"/>
              </a:defRPr>
            </a:pPr>
            <a: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51560"/>
            <a:ext cx="786384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Achievements: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10-100× speedup over DFT anharmonic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Novel ZMQ bridge for ML-QM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Automated analysis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Future directions: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Larger molecules (drugs, polymers)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319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Improved dipole ML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1AC"/>
                </a:solidFill>
                <a:latin typeface="Helvetica"/>
              </a:defRPr>
            </a:pPr>
            <a: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434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Helvetica"/>
              </a:defRPr>
            </a:pPr>
            <a:r>
              <a:t>High-throughput spectral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B4B4"/>
                </a:solidFill>
                <a:latin typeface="Helvetic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