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2600" b="1">
                <a:solidFill>
                  <a:srgbClr val="212121"/>
                </a:solidFill>
                <a:latin typeface="Times New Roman"/>
              </a:defRPr>
            </a:pPr>
            <a:r>
              <a:t>MACE-Gaussian Interface:</a:t>
            </a:r>
          </a:p>
          <a:p>
            <a:r>
              <a:t>ML-Accelerated Anharmonic IR Spectroscopy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  <a:defRPr sz="1400">
                <a:solidFill>
                  <a:srgbClr val="646464"/>
                </a:solidFill>
                <a:latin typeface="Times New Roman"/>
              </a:defRPr>
            </a:pPr>
            <a:r>
              <a:t>Your Name</a:t>
            </a:r>
          </a:p>
          <a:p>
            <a:r>
              <a:t>Research Group, Institution</a:t>
            </a:r>
          </a:p>
          <a:p/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  <a:latin typeface="Times New Roman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defRPr sz="1400">
                <a:solidFill>
                  <a:srgbClr val="212121"/>
                </a:solidFill>
                <a:latin typeface="Times New Roman"/>
              </a:defRPr>
            </a:pPr>
            <a:r>
              <a:t>Anharmonic vibrational spectroscopy calculations using density functional theory (DFT) provide accurate predictions but remain computationally prohibitive for high-throughput applications, often requiring hours to days per molecule.</a:t>
            </a:r>
          </a:p>
          <a:p>
            <a:pPr algn="just">
              <a:spcAft>
                <a:spcPts val="1200"/>
              </a:spcAft>
              <a:defRPr sz="1400">
                <a:solidFill>
                  <a:srgbClr val="212121"/>
                </a:solidFill>
                <a:latin typeface="Times New Roman"/>
              </a:defRPr>
            </a:pPr>
            <a:r>
              <a:t>We present a hybrid machine learning-quantum mechanics (ML-QM) approach that accelerates anharmonic IR spectroscopy by 10-100× while maintaining comparable accuracy to pure DFT methods.</a:t>
            </a:r>
          </a:p>
          <a:p>
            <a:pPr algn="just">
              <a:spcAft>
                <a:spcPts val="1200"/>
              </a:spcAft>
              <a:defRPr sz="1400">
                <a:solidFill>
                  <a:srgbClr val="212121"/>
                </a:solidFill>
                <a:latin typeface="Times New Roman"/>
              </a:defRPr>
            </a:pPr>
            <a:r>
              <a:t>Key contributions: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  <a:latin typeface="Times New Roman"/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8404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  <a:latin typeface="Times New Roman"/>
              </a:defRPr>
            </a:pPr>
            <a:r>
              <a:t>Novel ZMQ-based inter-process communication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51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  <a:latin typeface="Times New Roman"/>
              </a:defRPr>
            </a:pPr>
            <a: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2519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  <a:latin typeface="Times New Roman"/>
              </a:defRPr>
            </a:pPr>
            <a:r>
              <a:t>Dynamic module swapping for dual MACE implementations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  <a:latin typeface="Times New Roman"/>
              </a:defRPr>
            </a:pPr>
            <a: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4663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  <a:latin typeface="Times New Roman"/>
              </a:defRPr>
            </a:pPr>
            <a:r>
              <a:t>Eigenvector-based mode matching for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