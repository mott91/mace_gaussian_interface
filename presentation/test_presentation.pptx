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MACE-Gaussian Interface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ML-Accelerated Anharmonic IR Spectroscopy</a:t>
            </a:r>
          </a:p>
          <a:p/>
          <a:p>
            <a:r>
              <a:t>Your Name</a:t>
            </a:r>
          </a:p>
          <a:p>
            <a:r>
              <a:t>Research Group Meeting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Motivation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Anharmonic IR spectroscopy is essential for accurate predictions</a:t>
            </a:r>
          </a:p>
          <a:p>
            <a:pPr lvl="1">
              <a:defRPr sz="1800"/>
            </a:pPr>
            <a:r>
              <a:t>Includes overtones, combination bands, Fermi resonance</a:t>
            </a:r>
          </a:p>
          <a:p>
            <a:pPr>
              <a:defRPr sz="1800"/>
            </a:pPr>
            <a:r>
              <a:t>DFT anharmonic calculations are computationally expensive</a:t>
            </a:r>
          </a:p>
          <a:p>
            <a:pPr lvl="1">
              <a:defRPr sz="1800"/>
            </a:pPr>
            <a:r>
              <a:t>Hours to days per molecule</a:t>
            </a:r>
          </a:p>
          <a:p>
            <a:pPr lvl="1">
              <a:defRPr sz="1800"/>
            </a:pPr>
            <a:r>
              <a:t>Prohibitive for high-throughput screening</a:t>
            </a:r>
          </a:p>
          <a:p>
            <a:pPr>
              <a:defRPr sz="1800"/>
            </a:pPr>
            <a:r>
              <a:t>Can we use ML to accelerate without sacrificing accuracy?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Our Solution: Hybrid ML-QM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 MACE ML potentials for fast calculations</a:t>
            </a:r>
          </a:p>
          <a:p>
            <a:pPr lvl="1">
              <a:defRPr sz="1800"/>
            </a:pPr>
            <a:r>
              <a:t>Geometry optimization</a:t>
            </a:r>
          </a:p>
          <a:p>
            <a:pPr lvl="1">
              <a:defRPr sz="1800"/>
            </a:pPr>
            <a:r>
              <a:t>Force constants (Hessian)</a:t>
            </a:r>
          </a:p>
          <a:p>
            <a:pPr lvl="1">
              <a:defRPr sz="1800"/>
            </a:pPr>
            <a:r>
              <a:t>Dipole moment derivatives</a:t>
            </a:r>
          </a:p>
          <a:p>
            <a:pPr>
              <a:defRPr sz="1800"/>
            </a:pPr>
            <a:r>
              <a:t>Inject ML data into Gaussian for anharmonic corrections</a:t>
            </a:r>
          </a:p>
          <a:p>
            <a:pPr lvl="1">
              <a:defRPr sz="1800"/>
            </a:pPr>
            <a:r>
              <a:t>Perturbation theory (VPT2)</a:t>
            </a:r>
          </a:p>
          <a:p>
            <a:pPr lvl="1">
              <a:defRPr sz="1800"/>
            </a:pPr>
            <a:r>
              <a:t>Overtones and combination bands</a:t>
            </a:r>
          </a:p>
          <a:p>
            <a:pPr>
              <a:defRPr sz="1800"/>
            </a:pPr>
            <a:r>
              <a:t>Result: 10-100× speedup with comparable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646464"/>
                </a:solidFill>
              </a:defRPr>
            </a:pPr>
            <a:r>
              <a:t>[Flowchart Placeholder]</a:t>
            </a:r>
          </a:p>
          <a:p/>
          <a:p>
            <a:r>
              <a:t>XYZ → MACE Opt → Gaussian Freq → ZMQ Bridge → ML Dipoles → Analysis →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Technical Innovation: ZMQ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The Challenge</a:t>
            </a:r>
          </a:p>
          <a:p>
            <a:pPr lvl="1">
              <a:defRPr sz="1600"/>
            </a:pPr>
            <a:r>
              <a:t>Gaussian (Fortran) needs Python ML</a:t>
            </a:r>
          </a:p>
          <a:p>
            <a:pPr lvl="1">
              <a:defRPr sz="1600"/>
            </a:pPr>
            <a:r>
              <a:t>No direct FFI</a:t>
            </a:r>
          </a:p>
          <a:p>
            <a:pPr>
              <a:defRPr sz="1600"/>
            </a:pPr>
            <a:r>
              <a:t>The Solution</a:t>
            </a:r>
          </a:p>
          <a:p>
            <a:pPr lvl="1">
              <a:defRPr sz="1600"/>
            </a:pPr>
            <a:r>
              <a:t>Inter-Process Communication</a:t>
            </a:r>
          </a:p>
          <a:p>
            <a:pPr lvl="1">
              <a:defRPr sz="1600"/>
            </a:pPr>
            <a:r>
              <a:t>ZMQ (ZeroMQ) message passing</a:t>
            </a:r>
          </a:p>
          <a:p>
            <a:pPr lvl="1">
              <a:defRPr sz="1600"/>
            </a:pPr>
            <a:r>
              <a:t>Unix socket (.ipc file)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How It Works</a:t>
            </a:r>
          </a:p>
          <a:p>
            <a:pPr lvl="1">
              <a:defRPr sz="1600"/>
            </a:pPr>
            <a:r>
              <a:t>Main script starts ZMQ server</a:t>
            </a:r>
          </a:p>
          <a:p>
            <a:pPr lvl="1">
              <a:defRPr sz="1600"/>
            </a:pPr>
            <a:r>
              <a:t>Gaussian calls helper script</a:t>
            </a:r>
          </a:p>
          <a:p>
            <a:pPr lvl="1">
              <a:defRPr sz="1600"/>
            </a:pPr>
            <a:r>
              <a:t>Helper connects to ZMQ socket</a:t>
            </a:r>
          </a:p>
          <a:p>
            <a:pPr lvl="1">
              <a:defRPr sz="1600"/>
            </a:pPr>
            <a:r>
              <a:t>Python calculates dipoles</a:t>
            </a:r>
          </a:p>
          <a:p>
            <a:pPr lvl="1">
              <a:defRPr sz="1600"/>
            </a:pPr>
            <a:r>
              <a:t>Data injected back to Gaussian</a:t>
            </a:r>
          </a:p>
          <a:p>
            <a:pPr>
              <a:defRPr sz="1600"/>
            </a:pPr>
            <a:r>
              <a:t>Real-time bidirectional communication!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ZMQ Bridge Implementation</a:t>
            </a:r>
          </a:p>
        </p:txBody>
      </p:sp>
      <p:pic>
        <p:nvPicPr>
          <p:cNvPr id="4" name="Picture 3" descr="vscode_dark_zm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666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Technical Challenge: Dual MACE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Need two incompatible MACE versions:</a:t>
            </a:r>
          </a:p>
          <a:p>
            <a:pPr lvl="1">
              <a:defRPr sz="1800"/>
            </a:pPr>
            <a:r>
              <a:t>Standard MACE: energy/forces (optimization)</a:t>
            </a:r>
          </a:p>
          <a:p>
            <a:pPr lvl="1">
              <a:defRPr sz="1800"/>
            </a:pPr>
            <a:r>
              <a:t>Custom MACE: dipole moments (spectroscopy)</a:t>
            </a:r>
          </a:p>
          <a:p>
            <a:pPr>
              <a:defRPr sz="1800"/>
            </a:pPr>
            <a:r>
              <a:t>Solution: Dynamic module swapping</a:t>
            </a:r>
          </a:p>
          <a:p>
            <a:pPr lvl="1">
              <a:defRPr sz="1800"/>
            </a:pPr>
            <a:r>
              <a:t>Monkey-patch sys.modules</a:t>
            </a:r>
          </a:p>
          <a:p>
            <a:pPr lvl="1">
              <a:defRPr sz="1800"/>
            </a:pPr>
            <a:r>
              <a:t>Swap implementations on-the-fly</a:t>
            </a:r>
          </a:p>
          <a:p>
            <a:pPr lvl="1">
              <a:defRPr sz="1800"/>
            </a:pPr>
            <a:r>
              <a:t>fake_module_from_real() mechanism</a:t>
            </a:r>
          </a:p>
          <a:p>
            <a:pPr>
              <a:defRPr sz="1800"/>
            </a:pPr>
            <a:r>
              <a:t>Enables seamless switching between calculators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Results: Spectrum Comparison</a:t>
            </a:r>
          </a:p>
        </p:txBody>
      </p:sp>
      <p:pic>
        <p:nvPicPr>
          <p:cNvPr id="4" name="Picture 3" descr="sample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970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Water molecule: ML vs DFT anharmonic IR spectra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Rigorous mode-by-mode comparison</a:t>
            </a:r>
          </a:p>
          <a:p>
            <a:pPr lvl="1">
              <a:defRPr sz="1800"/>
            </a:pPr>
            <a:r>
              <a:t>Eigenvector-based mode matching (not frequency)</a:t>
            </a:r>
          </a:p>
          <a:p>
            <a:pPr lvl="1">
              <a:defRPr sz="1800"/>
            </a:pPr>
            <a:r>
              <a:t>Handles mode crossing and frequency errors</a:t>
            </a:r>
          </a:p>
          <a:p>
            <a:pPr>
              <a:defRPr sz="1800"/>
            </a:pPr>
            <a:r>
              <a:t>Statistical metrics</a:t>
            </a:r>
          </a:p>
          <a:p>
            <a:pPr lvl="1">
              <a:defRPr sz="1800"/>
            </a:pPr>
            <a:r>
              <a:t>MAE, RMSE, R² for frequencies</a:t>
            </a:r>
          </a:p>
          <a:p>
            <a:pPr lvl="1">
              <a:defRPr sz="1800"/>
            </a:pPr>
            <a:r>
              <a:t>Intensity correlations</a:t>
            </a:r>
          </a:p>
          <a:p>
            <a:pPr lvl="1">
              <a:defRPr sz="1800"/>
            </a:pPr>
            <a:r>
              <a:t>Mode overlap heatmaps</a:t>
            </a:r>
          </a:p>
          <a:p>
            <a:pPr>
              <a:defRPr sz="1800"/>
            </a:pPr>
            <a:r>
              <a:t>Multiple ML methods tested</a:t>
            </a:r>
          </a:p>
          <a:p>
            <a:pPr lvl="1">
              <a:defRPr sz="1800"/>
            </a:pPr>
            <a:r>
              <a:t>MACE-MP, MACE-OMOL × Espaloma, MACE-ML dipoles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Impact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Current Achievements</a:t>
            </a:r>
          </a:p>
          <a:p>
            <a:pPr lvl="1">
              <a:defRPr sz="1800"/>
            </a:pPr>
            <a:r>
              <a:t>10-100× speedup over DFT</a:t>
            </a:r>
          </a:p>
          <a:p>
            <a:pPr lvl="1">
              <a:defRPr sz="1800"/>
            </a:pPr>
            <a:r>
              <a:t>Comparable accuracy for small molecules</a:t>
            </a:r>
          </a:p>
          <a:p>
            <a:pPr lvl="1">
              <a:defRPr sz="1800"/>
            </a:pPr>
            <a:r>
              <a:t>Automated workflow with HTML reports</a:t>
            </a:r>
          </a:p>
          <a:p>
            <a:pPr>
              <a:defRPr sz="1800"/>
            </a:pPr>
            <a:r>
              <a:t>Future Work</a:t>
            </a:r>
          </a:p>
          <a:p>
            <a:pPr lvl="1">
              <a:defRPr sz="1800"/>
            </a:pPr>
            <a:r>
              <a:t>Extend to larger molecules (drugs, polymers)</a:t>
            </a:r>
          </a:p>
          <a:p>
            <a:pPr lvl="1">
              <a:defRPr sz="1800"/>
            </a:pPr>
            <a:r>
              <a:t>Improve dipole ML models</a:t>
            </a:r>
          </a:p>
          <a:p>
            <a:pPr lvl="1">
              <a:defRPr sz="1800"/>
            </a:pPr>
            <a:r>
              <a:t>High-throughput spectral database</a:t>
            </a:r>
          </a:p>
          <a:p>
            <a:pPr lvl="1">
              <a:defRPr sz="1800"/>
            </a:pPr>
            <a:r>
              <a:t>Integration with experimental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/>
            </a:pPr>
            <a:r>
              <a:t>Thank You!</a:t>
            </a:r>
          </a:p>
          <a:p/>
          <a:p>
            <a: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