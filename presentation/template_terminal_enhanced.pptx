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180636800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FB950"/>
                </a:solidFill>
                <a:latin typeface="Meslo Nerd Font"/>
              </a:defRPr>
            </a:pPr>
            <a:r>
              <a:t>mot@rs1-c724:~/presentation$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48256" y="475488"/>
            <a:ext cx="137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FB950"/>
                </a:solidFill>
                <a:latin typeface="Meslo Nerd Font"/>
              </a:defRPr>
            </a:pPr>
            <a:r>
              <a:t>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768096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90000"/>
              </a:lnSpc>
              <a:defRPr sz="1000">
                <a:solidFill>
                  <a:srgbClr val="58A6FF"/>
                </a:solidFill>
                <a:latin typeface="Meslo Nerd Font"/>
              </a:defRPr>
            </a:pPr>
            <a:r>
              <a:t>███╗   ███╗  █████╗  ██████╗  ███████╗ </a:t>
            </a:r>
          </a:p>
          <a:p>
            <a:r>
              <a:t>████╗ ████║ ██╔══██╗ ██╔════╝ ██╔════╝ </a:t>
            </a:r>
          </a:p>
          <a:p>
            <a:r>
              <a:t>██╔████╔██║ ███████║ ██║      █████╗   </a:t>
            </a:r>
          </a:p>
          <a:p>
            <a:r>
              <a:t>██║╚██╔╝██║ ██╔══██║ ██║      ██╔══╝   </a:t>
            </a:r>
          </a:p>
          <a:p>
            <a:r>
              <a:t>██║ ╚═╝ ██║ ██║  ██║ ╚██████╗ ███████╗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D2A8FF"/>
                </a:solidFill>
                <a:latin typeface="Meslo Nerd Font"/>
              </a:defRPr>
            </a:pPr>
            <a:r>
              <a:t>&gt;&gt;&gt; Gaussian Interface &lt;&lt;&lt;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3657600"/>
            <a:ext cx="58521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40000"/>
              </a:lnSpc>
              <a:defRPr sz="1300">
                <a:solidFill>
                  <a:srgbClr val="E5C07B"/>
                </a:solidFill>
                <a:latin typeface="Meslo Nerd Font"/>
              </a:defRPr>
            </a:pPr>
            <a:r>
              <a:t>⚡ ML-Accelerated Anharmonic IR Spectroscopy</a:t>
            </a:r>
          </a:p>
          <a:p>
            <a:pPr>
              <a:lnSpc>
                <a:spcPct val="140000"/>
              </a:lnSpc>
              <a:defRPr sz="1300">
                <a:solidFill>
                  <a:srgbClr val="56B6C2"/>
                </a:solidFill>
                <a:latin typeface="Meslo Nerd Font"/>
              </a:defRPr>
            </a:pPr>
            <a:r>
              <a:t>🔬 Hybrid ML-QM Approach</a:t>
            </a:r>
          </a:p>
          <a:p>
            <a:pPr>
              <a:lnSpc>
                <a:spcPct val="140000"/>
              </a:lnSpc>
              <a:defRPr sz="1300">
                <a:solidFill>
                  <a:srgbClr val="3FB950"/>
                </a:solidFill>
                <a:latin typeface="Meslo Nerd Font"/>
              </a:defRPr>
            </a:pPr>
            <a:r>
              <a:t>🚀 10-100× Speedup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Meslo Nerd Font"/>
              </a:defRPr>
            </a:pPr>
            <a:r>
              <a:t>Your Name  │  Research Group  │  2025-11-15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180636800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FB950"/>
                </a:solidFill>
                <a:latin typeface="Meslo Nerd Font"/>
              </a:defRPr>
            </a:pPr>
            <a:r>
              <a:t>mot@rs1-c724:~/presentation$ cat motivation.md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90000"/>
              </a:lnSpc>
              <a:defRPr sz="1000">
                <a:solidFill>
                  <a:srgbClr val="58A6FF"/>
                </a:solidFill>
                <a:latin typeface="Meslo Nerd Font"/>
              </a:defRPr>
            </a:pPr>
            <a:r>
              <a:t>╔══════════════════════════════════════╗</a:t>
            </a:r>
          </a:p>
          <a:p>
            <a:r>
              <a:t>║               MOTIVATION               ║</a:t>
            </a:r>
          </a:p>
          <a:p>
            <a:r>
              <a:t>╚══════════════════════════════════════╝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68096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D2A8FF"/>
                </a:solidFill>
                <a:latin typeface="Meslo Nerd Font"/>
              </a:defRPr>
            </a:pPr>
            <a:r>
              <a:t># Problem Statement</a:t>
            </a:r>
          </a:p>
          <a:p>
            <a:pPr>
              <a:defRPr sz="1200">
                <a:solidFill>
                  <a:srgbClr val="C9D1D9"/>
                </a:solidFill>
                <a:latin typeface="Meslo Nerd Font"/>
              </a:defRPr>
            </a:pPr>
            <a:r>
              <a:t>  → DFT anharmonic calculations: expensive</a:t>
            </a:r>
          </a:p>
          <a:p>
            <a:pPr>
              <a:defRPr sz="1200">
                <a:solidFill>
                  <a:srgbClr val="C9D1D9"/>
                </a:solidFill>
                <a:latin typeface="Meslo Nerd Font"/>
              </a:defRPr>
            </a:pPr>
            <a:r>
              <a:t>  → Hours to days per molecule</a:t>
            </a:r>
          </a:p>
          <a:p>
            <a:pPr>
              <a:defRPr sz="1200">
                <a:solidFill>
                  <a:srgbClr val="C9D1D9"/>
                </a:solidFill>
                <a:latin typeface="Meslo Nerd Font"/>
              </a:defRPr>
            </a:pPr>
            <a:r>
              <a:t>  → Limits high-throughput applications</a:t>
            </a:r>
          </a:p>
          <a:p>
            <a:pPr>
              <a:defRPr sz="1200">
                <a:solidFill>
                  <a:srgbClr val="C9D1D9"/>
                </a:solidFill>
                <a:latin typeface="Meslo Nerd Font"/>
              </a:defRPr>
            </a:pPr>
          </a:p>
          <a:p>
            <a:pPr>
              <a:defRPr sz="1200">
                <a:solidFill>
                  <a:srgbClr val="D2A8FF"/>
                </a:solidFill>
                <a:latin typeface="Meslo Nerd Font"/>
              </a:defRPr>
            </a:pPr>
            <a:r>
              <a:t># Our Solution</a:t>
            </a:r>
          </a:p>
          <a:p>
            <a:pPr>
              <a:defRPr sz="1200">
                <a:solidFill>
                  <a:srgbClr val="3FB950"/>
                </a:solidFill>
                <a:latin typeface="Meslo Nerd Font"/>
              </a:defRPr>
            </a:pPr>
            <a:r>
              <a:t>  → ML potentials for fast components</a:t>
            </a:r>
          </a:p>
          <a:p>
            <a:pPr>
              <a:defRPr sz="1200">
                <a:solidFill>
                  <a:srgbClr val="3FB950"/>
                </a:solidFill>
                <a:latin typeface="Meslo Nerd Font"/>
              </a:defRPr>
            </a:pPr>
            <a:r>
              <a:t>  → Gaussian for anharmonic corrections</a:t>
            </a:r>
          </a:p>
          <a:p>
            <a:pPr>
              <a:defRPr sz="1200">
                <a:solidFill>
                  <a:srgbClr val="56B6C2"/>
                </a:solidFill>
                <a:latin typeface="Meslo Nerd Font"/>
              </a:defRPr>
            </a:pPr>
            <a:r>
              <a:t>  → ZMQ bridge for real-time communication</a:t>
            </a:r>
          </a:p>
          <a:p>
            <a:pPr>
              <a:defRPr sz="1200">
                <a:solidFill>
                  <a:srgbClr val="C9D1D9"/>
                </a:solidFill>
                <a:latin typeface="Meslo Nerd Font"/>
              </a:defRPr>
            </a:pPr>
          </a:p>
          <a:p>
            <a:pPr>
              <a:defRPr sz="1200">
                <a:solidFill>
                  <a:srgbClr val="D2A8FF"/>
                </a:solidFill>
                <a:latin typeface="Meslo Nerd Font"/>
              </a:defRPr>
            </a:pPr>
            <a:r>
              <a:t># Impact</a:t>
            </a:r>
          </a:p>
          <a:p>
            <a:pPr>
              <a:defRPr sz="1200">
                <a:solidFill>
                  <a:srgbClr val="E5C07B"/>
                </a:solidFill>
                <a:latin typeface="Meslo Nerd Font"/>
              </a:defRPr>
            </a:pPr>
            <a:r>
              <a:t>  ⚡ 10-100× computational speedup</a:t>
            </a:r>
          </a:p>
          <a:p>
            <a:pPr>
              <a:defRPr sz="1200">
                <a:solidFill>
                  <a:srgbClr val="3FB950"/>
                </a:solidFill>
                <a:latin typeface="Meslo Nerd Font"/>
              </a:defRPr>
            </a:pPr>
            <a:r>
              <a:t>  ✓ Comparable accuracy to pure DFT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9144000" cy="2286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656832"/>
            <a:ext cx="8229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9D1D9"/>
                </a:solidFill>
                <a:latin typeface="Meslo Nerd Font"/>
              </a:defRPr>
            </a:pPr>
            <a:r>
              <a:t>[2/10]  NORMAL  motivation.md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180636800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FB950"/>
                </a:solidFill>
                <a:latin typeface="Meslo Nerd Font"/>
              </a:defRPr>
            </a:pPr>
            <a:r>
              <a:t>mot@rs1-c724:~/presentation$ ls -la architecture/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90000"/>
              </a:lnSpc>
              <a:defRPr sz="1000">
                <a:solidFill>
                  <a:srgbClr val="56B6C2"/>
                </a:solidFill>
                <a:latin typeface="Meslo Nerd Font"/>
              </a:defRPr>
            </a:pPr>
            <a:r>
              <a:t>╔═══════════════════════════════╗</a:t>
            </a:r>
          </a:p>
          <a:p>
            <a:r>
              <a:t>║     SYSTEM ARCHITECTURE       ║</a:t>
            </a:r>
          </a:p>
          <a:p>
            <a:r>
              <a:t>╚═══════════════════════════════╝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6809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C9D1D9"/>
                </a:solidFill>
                <a:latin typeface="Meslo Nerd Font"/>
              </a:defRPr>
            </a:pPr>
            <a:r>
              <a:t>total 5</a:t>
            </a:r>
          </a:p>
          <a:p>
            <a:r>
              <a:t>drwxr-xr-x  5 mot  group   160  Nov 15 12:00  .</a:t>
            </a:r>
          </a:p>
          <a:p>
            <a:r>
              <a:t>drwxr-xr-x 12 mot  group   384  Nov 15 11:00  ..</a:t>
            </a:r>
          </a:p>
          <a:p>
            <a:r>
              <a:t>-rw-r--r--  1 mot  group  2.1K  Nov 15 10:30  workflow.png</a:t>
            </a:r>
          </a:p>
          <a:p>
            <a:r>
              <a:t>-rw-r--r--  1 mot  group  3.4K  Nov 15 10:31  zmq_bridge.png</a:t>
            </a:r>
          </a:p>
          <a:p>
            <a:r>
              <a:t>-rw-r--r--  1 mot  group  1.8K  Nov 15 10:32  module_swap.png</a:t>
            </a:r>
          </a:p>
          <a:p/>
          <a:p>
            <a:r>
              <a:t>📁 Input → 🔧 MACE Opt → ⚛️  Gaussian</a:t>
            </a:r>
          </a:p>
          <a:p>
            <a:r>
              <a:t>                            ↓</a:t>
            </a:r>
          </a:p>
          <a:p>
            <a:r>
              <a:t>                      🔌 ZMQ Bridge</a:t>
            </a:r>
          </a:p>
          <a:p>
            <a:r>
              <a:t>                            ↓</a:t>
            </a:r>
          </a:p>
          <a:p>
            <a:r>
              <a:t>                        🤖 ML Dipole</a:t>
            </a:r>
          </a:p>
          <a:p>
            <a:r>
              <a:t>                            ↓</a:t>
            </a:r>
          </a:p>
          <a:p>
            <a:r>
              <a:t>          📊 Analysis → 📄 Report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9144000" cy="2286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656832"/>
            <a:ext cx="8229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9D1D9"/>
                </a:solidFill>
                <a:latin typeface="Meslo Nerd Font"/>
              </a:defRPr>
            </a:pPr>
            <a:r>
              <a:t>[3/10] 📁 NORMAL  architecture/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180636800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FB950"/>
                </a:solidFill>
                <a:latin typeface="Meslo Nerd Font"/>
              </a:defRPr>
            </a:pPr>
            <a:r>
              <a:t>mot@rs1-c724:~/presentation$ git diff --stat dft 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90000"/>
              </a:lnSpc>
              <a:defRPr sz="1200">
                <a:solidFill>
                  <a:srgbClr val="D2A8FF"/>
                </a:solidFill>
                <a:latin typeface="Meslo Nerd Font"/>
              </a:defRPr>
            </a:pPr>
            <a:r>
              <a:t>═══════════════════════════════</a:t>
            </a:r>
          </a:p>
          <a:p>
            <a:r>
              <a:t>     RESULTS &amp; COMPARISON</a:t>
            </a:r>
          </a:p>
          <a:p>
            <a:r>
              <a:t>═══════════════════════════════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7498079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15000"/>
              </a:lnSpc>
              <a:defRPr sz="1000">
                <a:solidFill>
                  <a:srgbClr val="C9D1D9"/>
                </a:solidFill>
                <a:latin typeface="Meslo Nerd Font"/>
              </a:defRPr>
            </a:pPr>
            <a:r>
              <a:t>Comparing: DFT (B3LYP) vs ML (MACE-MP + Espaloma)</a:t>
            </a:r>
          </a:p>
          <a:p/>
          <a:p>
            <a:r>
              <a:t> computation_time    | ████████████████████ -95%</a:t>
            </a:r>
          </a:p>
          <a:p>
            <a:r>
              <a:t> frequency_accuracy  | ██ +2% MAE</a:t>
            </a:r>
          </a:p>
          <a:p>
            <a:r>
              <a:t> intensity_accuracy  | ███ +5% RMSE</a:t>
            </a:r>
          </a:p>
          <a:p>
            <a:r>
              <a:t> mode_matching       | ████████████████████ 98%</a:t>
            </a:r>
          </a:p>
          <a:p/>
          <a:p>
            <a:r>
              <a:t> Summary:</a:t>
            </a:r>
          </a:p>
          <a:p>
            <a:r>
              <a:t> ──────────────────────────────────────</a:t>
            </a:r>
          </a:p>
          <a:p>
            <a:r>
              <a:t>  Metric            DFT        ML</a:t>
            </a:r>
          </a:p>
          <a:p>
            <a:r>
              <a:t> ──────────────────────────────────────</a:t>
            </a:r>
          </a:p>
          <a:p>
            <a:r>
              <a:t>  Runtime         8.5 hrs    6.2 min</a:t>
            </a:r>
          </a:p>
          <a:p>
            <a:r>
              <a:t>  Freq MAE           --      12 cm⁻¹</a:t>
            </a:r>
          </a:p>
          <a:p>
            <a:r>
              <a:t>  R²                 --      0.996</a:t>
            </a:r>
          </a:p>
          <a:p>
            <a:r>
              <a:t>  Speed Factor       1×       ~100×</a:t>
            </a:r>
          </a:p>
          <a:p>
            <a:r>
              <a:t> ──────────────────────────────────────</a:t>
            </a:r>
          </a:p>
          <a:p/>
          <a:p>
            <a:r>
              <a:t> ✓ Validated against DFT baseline</a:t>
            </a:r>
          </a:p>
          <a:p>
            <a:r>
              <a:t> ✓ All fundamental modes matched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9144000" cy="2286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656832"/>
            <a:ext cx="8229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9D1D9"/>
                </a:solidFill>
                <a:latin typeface="Meslo Nerd Font"/>
              </a:defRPr>
            </a:pPr>
            <a:r>
              <a:t>[4/10]  master  results.md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