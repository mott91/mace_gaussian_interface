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12280"/>
            <a:ext cx="9144000" cy="4572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098280" y="0"/>
            <a:ext cx="45720" cy="68580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" y="73152"/>
            <a:ext cx="9052560" cy="2286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7160" y="128016"/>
            <a:ext cx="54864" cy="54864"/>
          </a:xfrm>
          <a:prstGeom prst="ellipse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10311" y="128016"/>
            <a:ext cx="54864" cy="54864"/>
          </a:xfrm>
          <a:prstGeom prst="ellipse">
            <a:avLst/>
          </a:prstGeom>
          <a:solidFill>
            <a:srgbClr val="E5C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83464" y="128016"/>
            <a:ext cx="54864" cy="54864"/>
          </a:xfrm>
          <a:prstGeom prst="ellipse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00584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8B949E"/>
                </a:solidFill>
                <a:latin typeface="Menlo"/>
              </a:defRPr>
            </a:pPr>
            <a:r>
              <a:t>presentation — mot@rs1-c724 — 100×40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762573120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1100">
                <a:solidFill>
                  <a:srgbClr val="8B949E"/>
                </a:solidFill>
                <a:latin typeface="Menlo"/>
              </a:rPr>
              <a:t>╭─</a:t>
            </a:r>
            <a:r>
              <a:rPr sz="1100" b="1">
                <a:solidFill>
                  <a:srgbClr val="56B6C2"/>
                </a:solidFill>
                <a:latin typeface="Menlo"/>
              </a:rPr>
              <a:t>  mot@rs1-c724 </a:t>
            </a:r>
            <a:r>
              <a:rPr sz="1100">
                <a:solidFill>
                  <a:srgbClr val="8B949E"/>
                </a:solidFill>
                <a:latin typeface="Menlo"/>
              </a:rPr>
              <a:t> </a:t>
            </a:r>
            <a:r>
              <a:rPr sz="1100">
                <a:solidFill>
                  <a:srgbClr val="D2A8FF"/>
                </a:solidFill>
                <a:latin typeface="Menlo"/>
              </a:rPr>
              <a:t> ~/presentation </a:t>
            </a:r>
            <a:r>
              <a:rPr sz="1100">
                <a:solidFill>
                  <a:srgbClr val="8B949E"/>
                </a:solidFill>
                <a:latin typeface="Menlo"/>
              </a:rPr>
              <a:t> </a:t>
            </a:r>
            <a:r>
              <a:rPr sz="1100">
                <a:solidFill>
                  <a:srgbClr val="3FB950"/>
                </a:solidFill>
                <a:latin typeface="Menlo"/>
              </a:rPr>
              <a:t> master </a:t>
            </a:r>
            <a:r>
              <a:rPr sz="1100">
                <a:solidFill>
                  <a:srgbClr val="E5C07B"/>
                </a:solidFill>
                <a:latin typeface="Menlo"/>
              </a:rPr>
              <a:t>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37625754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1100">
                <a:solidFill>
                  <a:srgbClr val="8B949E"/>
                </a:solidFill>
                <a:latin typeface="Menlo"/>
              </a:rPr>
              <a:t>╰─</a:t>
            </a:r>
            <a:r>
              <a:rPr sz="1200" b="1">
                <a:solidFill>
                  <a:srgbClr val="3FB950"/>
                </a:solidFill>
                <a:latin typeface="Menlo"/>
              </a:rPr>
              <a:t>❯ </a:t>
            </a:r>
            <a:r>
              <a:rPr sz="1100">
                <a:solidFill>
                  <a:srgbClr val="C9D1D9"/>
                </a:solidFill>
                <a:latin typeface="Menlo"/>
              </a:rPr>
              <a:t>./run_presentation.sh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005840"/>
            <a:ext cx="80467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58A6FF"/>
                </a:solidFill>
                <a:latin typeface="Menlo"/>
              </a:defRPr>
            </a:pPr>
            <a:r>
              <a:t>███╗   ███╗  █████╗  ██████╗  ███████╗ </a:t>
            </a:r>
          </a:p>
          <a:p>
            <a:r>
              <a:t>████╗ ████║ ██╔══██╗ ██╔════╝ ██╔════╝ </a:t>
            </a:r>
          </a:p>
          <a:p>
            <a:r>
              <a:t>██╔████╔██║ ███████║ ██║      █████╗   </a:t>
            </a:r>
          </a:p>
          <a:p>
            <a:r>
              <a:t>██║╚██╔╝██║ ██╔══██║ ██║      ██╔══╝   </a:t>
            </a:r>
          </a:p>
          <a:p>
            <a:r>
              <a:t>██║ ╚═╝ ██║ ██║  ██║ ╚██████╗ ███████╗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743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D2A8FF"/>
                </a:solidFill>
                <a:latin typeface="Menlo"/>
              </a:defRPr>
            </a:pPr>
            <a:r>
              <a:t>&gt;&gt;&gt; Gaussian Interface &lt;&lt;&lt;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383280"/>
            <a:ext cx="6400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40000"/>
              </a:lnSpc>
              <a:defRPr sz="1300">
                <a:solidFill>
                  <a:srgbClr val="E5C07B"/>
                </a:solidFill>
                <a:latin typeface="Menlo"/>
              </a:defRPr>
            </a:pPr>
            <a:r>
              <a:t>⚡ ML-Accelerated Anharmonic IR Spectroscopy</a:t>
            </a:r>
          </a:p>
          <a:p>
            <a:pPr>
              <a:lnSpc>
                <a:spcPct val="140000"/>
              </a:lnSpc>
              <a:defRPr sz="1300">
                <a:solidFill>
                  <a:srgbClr val="56B6C2"/>
                </a:solidFill>
                <a:latin typeface="Menlo"/>
              </a:defRPr>
            </a:pPr>
            <a:r>
              <a:t>🔬 Hybrid ML-QM Approach</a:t>
            </a:r>
          </a:p>
          <a:p>
            <a:pPr>
              <a:lnSpc>
                <a:spcPct val="140000"/>
              </a:lnSpc>
              <a:defRPr sz="1300">
                <a:solidFill>
                  <a:srgbClr val="3FB950"/>
                </a:solidFill>
                <a:latin typeface="Menlo"/>
              </a:defRPr>
            </a:pPr>
            <a:r>
              <a:t>🚀 10-100× Speedup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029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8B949E"/>
                </a:solidFill>
                <a:latin typeface="Menlo"/>
              </a:defRPr>
            </a:pPr>
            <a:r>
              <a:t>Your Name  │  Research Group  │  2025-11-15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" y="6537960"/>
            <a:ext cx="9052560" cy="2286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6565392"/>
            <a:ext cx="8595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C9D1D9"/>
                </a:solidFill>
                <a:latin typeface="Menlo"/>
              </a:defRPr>
            </a:pPr>
            <a:r>
              <a:t>[1/10] ⚡ NORMAL  presentation.sh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5760720"/>
            <a:ext cx="18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FB950"/>
                </a:solidFill>
                <a:latin typeface="Menlo"/>
              </a:defRPr>
            </a:pPr>
            <a:r>
              <a:t>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12280"/>
            <a:ext cx="9144000" cy="4572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098280" y="0"/>
            <a:ext cx="45720" cy="68580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" y="73152"/>
            <a:ext cx="9052560" cy="2286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0584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8B949E"/>
                </a:solidFill>
                <a:latin typeface="Menlo"/>
              </a:defRPr>
            </a:pPr>
            <a:r>
              <a:t>presentation — mot@rs1-c724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3762573120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1100">
                <a:solidFill>
                  <a:srgbClr val="8B949E"/>
                </a:solidFill>
                <a:latin typeface="Menlo"/>
              </a:rPr>
              <a:t>╭─</a:t>
            </a:r>
            <a:r>
              <a:rPr sz="1100" b="1">
                <a:solidFill>
                  <a:srgbClr val="56B6C2"/>
                </a:solidFill>
                <a:latin typeface="Menlo"/>
              </a:rPr>
              <a:t>  mot@rs1-c724 </a:t>
            </a:r>
            <a:r>
              <a:rPr sz="1100">
                <a:solidFill>
                  <a:srgbClr val="8B949E"/>
                </a:solidFill>
                <a:latin typeface="Menlo"/>
              </a:rPr>
              <a:t> </a:t>
            </a:r>
            <a:r>
              <a:rPr sz="1100">
                <a:solidFill>
                  <a:srgbClr val="D2A8FF"/>
                </a:solidFill>
                <a:latin typeface="Menlo"/>
              </a:rPr>
              <a:t> ~/presentation </a:t>
            </a:r>
            <a:r>
              <a:rPr sz="1100">
                <a:solidFill>
                  <a:srgbClr val="8B949E"/>
                </a:solidFill>
                <a:latin typeface="Menlo"/>
              </a:rPr>
              <a:t> </a:t>
            </a:r>
            <a:r>
              <a:rPr sz="1100">
                <a:solidFill>
                  <a:srgbClr val="3FB950"/>
                </a:solidFill>
                <a:latin typeface="Menlo"/>
              </a:rPr>
              <a:t> master </a:t>
            </a:r>
            <a:r>
              <a:rPr sz="1100">
                <a:solidFill>
                  <a:srgbClr val="E5C07B"/>
                </a:solidFill>
                <a:latin typeface="Menlo"/>
              </a:rPr>
              <a:t>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37625754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1100">
                <a:solidFill>
                  <a:srgbClr val="8B949E"/>
                </a:solidFill>
                <a:latin typeface="Menlo"/>
              </a:rPr>
              <a:t>╰─</a:t>
            </a:r>
            <a:r>
              <a:rPr sz="1200" b="1">
                <a:solidFill>
                  <a:srgbClr val="3FB950"/>
                </a:solidFill>
                <a:latin typeface="Menlo"/>
              </a:rPr>
              <a:t>❯ </a:t>
            </a:r>
            <a:r>
              <a:rPr sz="1100">
                <a:solidFill>
                  <a:srgbClr val="C9D1D9"/>
                </a:solidFill>
                <a:latin typeface="Menlo"/>
              </a:rPr>
              <a:t>cat motivation.md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96012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58A6FF"/>
                </a:solidFill>
                <a:latin typeface="Menlo"/>
              </a:defRPr>
            </a:pPr>
            <a:r>
              <a:t>╔══════════════════════════════════════╗</a:t>
            </a:r>
          </a:p>
          <a:p>
            <a:r>
              <a:t>║               MOTIVATION               ║</a:t>
            </a:r>
          </a:p>
          <a:p>
            <a:r>
              <a:t>╚══════════════════════════════════════╝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737360"/>
            <a:ext cx="80467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2A8FF"/>
                </a:solidFill>
                <a:latin typeface="Menlo"/>
              </a:defRPr>
            </a:pPr>
            <a:r>
              <a:t># Problem Statement</a:t>
            </a:r>
          </a:p>
          <a:p>
            <a:pPr>
              <a:defRPr sz="1200">
                <a:solidFill>
                  <a:srgbClr val="C9D1D9"/>
                </a:solidFill>
                <a:latin typeface="Menlo"/>
              </a:defRPr>
            </a:pPr>
            <a:r>
              <a:t>  → DFT anharmonic calculations: expensive</a:t>
            </a:r>
          </a:p>
          <a:p>
            <a:pPr>
              <a:defRPr sz="1200">
                <a:solidFill>
                  <a:srgbClr val="C9D1D9"/>
                </a:solidFill>
                <a:latin typeface="Menlo"/>
              </a:defRPr>
            </a:pPr>
            <a:r>
              <a:t>  → Hours to days per molecule</a:t>
            </a:r>
          </a:p>
          <a:p>
            <a:pPr>
              <a:defRPr sz="1200">
                <a:solidFill>
                  <a:srgbClr val="C9D1D9"/>
                </a:solidFill>
                <a:latin typeface="Menlo"/>
              </a:defRPr>
            </a:pPr>
            <a:r>
              <a:t>  → Limits high-throughput applications</a:t>
            </a:r>
          </a:p>
          <a:p>
            <a:pPr>
              <a:defRPr sz="1200">
                <a:solidFill>
                  <a:srgbClr val="C9D1D9"/>
                </a:solidFill>
                <a:latin typeface="Menlo"/>
              </a:defRPr>
            </a:pPr>
          </a:p>
          <a:p>
            <a:pPr>
              <a:defRPr sz="1200">
                <a:solidFill>
                  <a:srgbClr val="D2A8FF"/>
                </a:solidFill>
                <a:latin typeface="Menlo"/>
              </a:defRPr>
            </a:pPr>
            <a:r>
              <a:t># Our Solution</a:t>
            </a:r>
          </a:p>
          <a:p>
            <a:pPr>
              <a:defRPr sz="1200">
                <a:solidFill>
                  <a:srgbClr val="3FB950"/>
                </a:solidFill>
                <a:latin typeface="Menlo"/>
              </a:defRPr>
            </a:pPr>
            <a:r>
              <a:t>  → ML potentials for fast components</a:t>
            </a:r>
          </a:p>
          <a:p>
            <a:pPr>
              <a:defRPr sz="1200">
                <a:solidFill>
                  <a:srgbClr val="3FB950"/>
                </a:solidFill>
                <a:latin typeface="Menlo"/>
              </a:defRPr>
            </a:pPr>
            <a:r>
              <a:t>  → Gaussian for anharmonic corrections</a:t>
            </a:r>
          </a:p>
          <a:p>
            <a:pPr>
              <a:defRPr sz="1200">
                <a:solidFill>
                  <a:srgbClr val="56B6C2"/>
                </a:solidFill>
                <a:latin typeface="Menlo"/>
              </a:defRPr>
            </a:pPr>
            <a:r>
              <a:t>  → ZMQ bridge for real-time communication</a:t>
            </a:r>
          </a:p>
          <a:p>
            <a:pPr>
              <a:defRPr sz="1200">
                <a:solidFill>
                  <a:srgbClr val="C9D1D9"/>
                </a:solidFill>
                <a:latin typeface="Menlo"/>
              </a:defRPr>
            </a:pPr>
          </a:p>
          <a:p>
            <a:pPr>
              <a:defRPr sz="1200">
                <a:solidFill>
                  <a:srgbClr val="D2A8FF"/>
                </a:solidFill>
                <a:latin typeface="Menlo"/>
              </a:defRPr>
            </a:pPr>
            <a:r>
              <a:t># Impact</a:t>
            </a:r>
          </a:p>
          <a:p>
            <a:pPr>
              <a:defRPr sz="1200">
                <a:solidFill>
                  <a:srgbClr val="E5C07B"/>
                </a:solidFill>
                <a:latin typeface="Menlo"/>
              </a:defRPr>
            </a:pPr>
            <a:r>
              <a:t>  ⚡ 10-100× computational speedup</a:t>
            </a:r>
          </a:p>
          <a:p>
            <a:pPr>
              <a:defRPr sz="1200">
                <a:solidFill>
                  <a:srgbClr val="3FB950"/>
                </a:solidFill>
                <a:latin typeface="Menlo"/>
              </a:defRPr>
            </a:pPr>
            <a:r>
              <a:t>  ✓ Comparable accuracy to pure DFT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" y="6537960"/>
            <a:ext cx="9052560" cy="2286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565392"/>
            <a:ext cx="8595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C9D1D9"/>
                </a:solidFill>
                <a:latin typeface="Menlo"/>
              </a:defRPr>
            </a:pPr>
            <a:r>
              <a:t>[2/10]  NORMAL  motivation.md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12280"/>
            <a:ext cx="9144000" cy="4572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098280" y="0"/>
            <a:ext cx="45720" cy="68580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" y="73152"/>
            <a:ext cx="9052560" cy="2286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0584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8B949E"/>
                </a:solidFill>
                <a:latin typeface="Menlo"/>
              </a:defRPr>
            </a:pPr>
            <a:r>
              <a:t>presentation — mot@rs1-c724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3762573120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1100">
                <a:solidFill>
                  <a:srgbClr val="8B949E"/>
                </a:solidFill>
                <a:latin typeface="Menlo"/>
              </a:rPr>
              <a:t>╭─</a:t>
            </a:r>
            <a:r>
              <a:rPr sz="1100" b="1">
                <a:solidFill>
                  <a:srgbClr val="56B6C2"/>
                </a:solidFill>
                <a:latin typeface="Menlo"/>
              </a:rPr>
              <a:t>  mot@rs1-c724 </a:t>
            </a:r>
            <a:r>
              <a:rPr sz="1100">
                <a:solidFill>
                  <a:srgbClr val="8B949E"/>
                </a:solidFill>
                <a:latin typeface="Menlo"/>
              </a:rPr>
              <a:t> </a:t>
            </a:r>
            <a:r>
              <a:rPr sz="1100">
                <a:solidFill>
                  <a:srgbClr val="D2A8FF"/>
                </a:solidFill>
                <a:latin typeface="Menlo"/>
              </a:rPr>
              <a:t> ~/presentation </a:t>
            </a:r>
            <a:r>
              <a:rPr sz="1100">
                <a:solidFill>
                  <a:srgbClr val="8B949E"/>
                </a:solidFill>
                <a:latin typeface="Menlo"/>
              </a:rPr>
              <a:t> </a:t>
            </a:r>
            <a:r>
              <a:rPr sz="1100">
                <a:solidFill>
                  <a:srgbClr val="3FB950"/>
                </a:solidFill>
                <a:latin typeface="Menlo"/>
              </a:rPr>
              <a:t> master </a:t>
            </a:r>
            <a:r>
              <a:rPr sz="1100">
                <a:solidFill>
                  <a:srgbClr val="E5C07B"/>
                </a:solidFill>
                <a:latin typeface="Menlo"/>
              </a:rPr>
              <a:t>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37625754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1100">
                <a:solidFill>
                  <a:srgbClr val="8B949E"/>
                </a:solidFill>
                <a:latin typeface="Menlo"/>
              </a:rPr>
              <a:t>╰─</a:t>
            </a:r>
            <a:r>
              <a:rPr sz="1200" b="1">
                <a:solidFill>
                  <a:srgbClr val="3FB950"/>
                </a:solidFill>
                <a:latin typeface="Menlo"/>
              </a:rPr>
              <a:t>❯ </a:t>
            </a:r>
            <a:r>
              <a:rPr sz="1100">
                <a:solidFill>
                  <a:srgbClr val="C9D1D9"/>
                </a:solidFill>
                <a:latin typeface="Menlo"/>
              </a:rPr>
              <a:t>ls -la architecture/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96012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56B6C2"/>
                </a:solidFill>
                <a:latin typeface="Menlo"/>
              </a:defRPr>
            </a:pPr>
            <a:r>
              <a:t>╔═══════════════════════════════╗</a:t>
            </a:r>
          </a:p>
          <a:p>
            <a:r>
              <a:t>║     SYSTEM ARCHITECTURE       ║</a:t>
            </a:r>
          </a:p>
          <a:p>
            <a:r>
              <a:t>╚═══════════════════════════════╝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691640"/>
            <a:ext cx="804672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C9D1D9"/>
                </a:solidFill>
                <a:latin typeface="Menlo"/>
              </a:defRPr>
            </a:pPr>
            <a:r>
              <a:t>total 5</a:t>
            </a:r>
          </a:p>
          <a:p>
            <a:r>
              <a:t>drwxr-xr-x  5 mot  group   160  Nov 15 12:00  .</a:t>
            </a:r>
          </a:p>
          <a:p>
            <a:r>
              <a:t>drwxr-xr-x 12 mot  group   384  Nov 15 11:00  ..</a:t>
            </a:r>
          </a:p>
          <a:p>
            <a:r>
              <a:t>-rw-r--r--  1 mot  group  2.1K  Nov 15 10:30  workflow.png</a:t>
            </a:r>
          </a:p>
          <a:p>
            <a:r>
              <a:t>-rw-r--r--  1 mot  group  3.4K  Nov 15 10:31  zmq_bridge.png</a:t>
            </a:r>
          </a:p>
          <a:p>
            <a:r>
              <a:t>-rw-r--r--  1 mot  group  1.8K  Nov 15 10:32  module_swap.png</a:t>
            </a:r>
          </a:p>
          <a:p/>
          <a:p>
            <a:r>
              <a:t>📁 Input → 🔧 MACE Opt → ⚛️  Gaussian</a:t>
            </a:r>
          </a:p>
          <a:p>
            <a:r>
              <a:t>                            ↓</a:t>
            </a:r>
          </a:p>
          <a:p>
            <a:r>
              <a:t>                      🔌 ZMQ Bridge</a:t>
            </a:r>
          </a:p>
          <a:p>
            <a:r>
              <a:t>                            ↓</a:t>
            </a:r>
          </a:p>
          <a:p>
            <a:r>
              <a:t>                        🤖 ML Dipole</a:t>
            </a:r>
          </a:p>
          <a:p>
            <a:r>
              <a:t>                            ↓</a:t>
            </a:r>
          </a:p>
          <a:p>
            <a:r>
              <a:t>          📊 Analysis → 📄 Report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" y="6537960"/>
            <a:ext cx="9052560" cy="2286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565392"/>
            <a:ext cx="8595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C9D1D9"/>
                </a:solidFill>
                <a:latin typeface="Menlo"/>
              </a:defRPr>
            </a:pPr>
            <a:r>
              <a:t>[3/10] 📁 NORMAL  architecture/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12280"/>
            <a:ext cx="9144000" cy="4572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098280" y="0"/>
            <a:ext cx="45720" cy="68580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" y="73152"/>
            <a:ext cx="9052560" cy="2286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0584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8B949E"/>
                </a:solidFill>
                <a:latin typeface="Menlo"/>
              </a:defRPr>
            </a:pPr>
            <a:r>
              <a:t>presentation — mot@rs1-c724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3762573120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1100">
                <a:solidFill>
                  <a:srgbClr val="8B949E"/>
                </a:solidFill>
                <a:latin typeface="Menlo"/>
              </a:rPr>
              <a:t>╭─</a:t>
            </a:r>
            <a:r>
              <a:rPr sz="1100" b="1">
                <a:solidFill>
                  <a:srgbClr val="56B6C2"/>
                </a:solidFill>
                <a:latin typeface="Menlo"/>
              </a:rPr>
              <a:t>  mot@rs1-c724 </a:t>
            </a:r>
            <a:r>
              <a:rPr sz="1100">
                <a:solidFill>
                  <a:srgbClr val="8B949E"/>
                </a:solidFill>
                <a:latin typeface="Menlo"/>
              </a:rPr>
              <a:t> </a:t>
            </a:r>
            <a:r>
              <a:rPr sz="1100">
                <a:solidFill>
                  <a:srgbClr val="D2A8FF"/>
                </a:solidFill>
                <a:latin typeface="Menlo"/>
              </a:rPr>
              <a:t> ~/presentation </a:t>
            </a:r>
            <a:r>
              <a:rPr sz="1100">
                <a:solidFill>
                  <a:srgbClr val="8B949E"/>
                </a:solidFill>
                <a:latin typeface="Menlo"/>
              </a:rPr>
              <a:t> </a:t>
            </a:r>
            <a:r>
              <a:rPr sz="1100">
                <a:solidFill>
                  <a:srgbClr val="3FB950"/>
                </a:solidFill>
                <a:latin typeface="Menlo"/>
              </a:rPr>
              <a:t> master </a:t>
            </a:r>
            <a:r>
              <a:rPr sz="1100">
                <a:solidFill>
                  <a:srgbClr val="E5C07B"/>
                </a:solidFill>
                <a:latin typeface="Menlo"/>
              </a:rPr>
              <a:t>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37625754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1100">
                <a:solidFill>
                  <a:srgbClr val="8B949E"/>
                </a:solidFill>
                <a:latin typeface="Menlo"/>
              </a:rPr>
              <a:t>╰─</a:t>
            </a:r>
            <a:r>
              <a:rPr sz="1200" b="1">
                <a:solidFill>
                  <a:srgbClr val="3FB950"/>
                </a:solidFill>
                <a:latin typeface="Menlo"/>
              </a:rPr>
              <a:t>❯ </a:t>
            </a:r>
            <a:r>
              <a:rPr sz="1100">
                <a:solidFill>
                  <a:srgbClr val="C9D1D9"/>
                </a:solidFill>
                <a:latin typeface="Menlo"/>
              </a:rPr>
              <a:t>git diff --stat dft 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96012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90000"/>
              </a:lnSpc>
              <a:defRPr sz="1200">
                <a:solidFill>
                  <a:srgbClr val="D2A8FF"/>
                </a:solidFill>
                <a:latin typeface="Menlo"/>
              </a:defRPr>
            </a:pPr>
            <a:r>
              <a:t>═══════════════════════════════</a:t>
            </a:r>
          </a:p>
          <a:p>
            <a:r>
              <a:t>     RESULTS &amp; COMPARISON</a:t>
            </a:r>
          </a:p>
          <a:p>
            <a:r>
              <a:t>═══════════════════════════════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691640"/>
            <a:ext cx="786384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000">
                <a:solidFill>
                  <a:srgbClr val="C9D1D9"/>
                </a:solidFill>
                <a:latin typeface="Menlo"/>
              </a:defRPr>
            </a:pPr>
            <a:r>
              <a:t>Comparing: DFT (B3LYP) vs ML (MACE-MP + Espaloma)</a:t>
            </a:r>
          </a:p>
          <a:p/>
          <a:p>
            <a:r>
              <a:t> computation_time    | ████████████████████ -95%</a:t>
            </a:r>
          </a:p>
          <a:p>
            <a:r>
              <a:t> frequency_accuracy  | ██ +2% MAE</a:t>
            </a:r>
          </a:p>
          <a:p>
            <a:r>
              <a:t> intensity_accuracy  | ███ +5% RMSE</a:t>
            </a:r>
          </a:p>
          <a:p>
            <a:r>
              <a:t> mode_matching       | ████████████████████ 98%</a:t>
            </a:r>
          </a:p>
          <a:p/>
          <a:p>
            <a:r>
              <a:t> Summary:</a:t>
            </a:r>
          </a:p>
          <a:p>
            <a:r>
              <a:t> ──────────────────────────────────────</a:t>
            </a:r>
          </a:p>
          <a:p>
            <a:r>
              <a:t>  Metric            DFT        ML</a:t>
            </a:r>
          </a:p>
          <a:p>
            <a:r>
              <a:t> ──────────────────────────────────────</a:t>
            </a:r>
          </a:p>
          <a:p>
            <a:r>
              <a:t>  Runtime         8.5 hrs    6.2 min</a:t>
            </a:r>
          </a:p>
          <a:p>
            <a:r>
              <a:t>  Freq MAE           --      12 cm⁻¹</a:t>
            </a:r>
          </a:p>
          <a:p>
            <a:r>
              <a:t>  R²                 --      0.996</a:t>
            </a:r>
          </a:p>
          <a:p>
            <a:r>
              <a:t>  Speed Factor       1×       ~100×</a:t>
            </a:r>
          </a:p>
          <a:p>
            <a:r>
              <a:t> ──────────────────────────────────────</a:t>
            </a:r>
          </a:p>
          <a:p/>
          <a:p>
            <a:r>
              <a:t> ✓ Validated against DFT baseline</a:t>
            </a:r>
          </a:p>
          <a:p>
            <a:r>
              <a:t> ✓ All fundamental modes matched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" y="6537960"/>
            <a:ext cx="9052560" cy="2286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565392"/>
            <a:ext cx="8595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C9D1D9"/>
                </a:solidFill>
                <a:latin typeface="Menlo"/>
              </a:defRPr>
            </a:pPr>
            <a:r>
              <a:t>[4/10]  master  results.md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