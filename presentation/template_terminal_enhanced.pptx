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FB950"/>
                </a:solidFill>
                <a:latin typeface="Menlo"/>
              </a:defRPr>
            </a:pPr>
            <a:r>
              <a:t>user@research-group:~/presentation$ ./run_presentation.sh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900">
                <a:solidFill>
                  <a:srgbClr val="58A6FF"/>
                </a:solidFill>
                <a:latin typeface="Menlo"/>
              </a:defRPr>
            </a:pPr>
            <a:r>
              <a:t>███╗   ███╗  █████╗  ██████╗ ███████╗ </a:t>
            </a:r>
          </a:p>
          <a:p>
            <a:r>
              <a:t>████╗ ████║ ██╔══██╗ ██╔════╝ ██╔════╝ </a:t>
            </a:r>
          </a:p>
          <a:p>
            <a:r>
              <a:t>██╔████╔██║ ███████║ ██║      █████╗   </a:t>
            </a:r>
          </a:p>
          <a:p>
            <a:r>
              <a:t>██║╚██╔╝██║ ██╔══██║ ██║      ██╔══╝   </a:t>
            </a:r>
          </a:p>
          <a:p>
            <a:r>
              <a:t>██║ ╚═╝ ██║ ██║  ██║ ╚██████╗ ███████╗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2A8FF"/>
                </a:solidFill>
                <a:latin typeface="Menlo"/>
              </a:defRPr>
            </a:pPr>
            <a:r>
              <a:t>&gt;&gt;&gt; Gaussian Interface &lt;&lt;&lt;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 sz="1400">
                <a:solidFill>
                  <a:srgbClr val="C9D1D9"/>
                </a:solidFill>
                <a:latin typeface="Menlo"/>
              </a:defRPr>
            </a:pPr>
            <a:r>
              <a:t>⚡ ML-Accelerated Anharmonic IR Spectroscopy</a:t>
            </a:r>
          </a:p>
          <a:p>
            <a:r>
              <a:t>🔬 Hybrid ML-QM Approach</a:t>
            </a:r>
          </a:p>
          <a:p>
            <a:r>
              <a:t>🚀 10-100× Speedup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Menlo"/>
              </a:defRPr>
            </a:pPr>
            <a:r>
              <a:t>Your Name  │  Research Group  │  2025-11-15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30936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FB950"/>
                </a:solidFill>
                <a:latin typeface="Menlo"/>
              </a:defRPr>
            </a:pPr>
            <a:r>
              <a:t>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Menlo"/>
              </a:defRPr>
            </a:pPr>
            <a:r>
              <a:t>  presentation.sh — user@research-group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nlo"/>
              </a:defRPr>
            </a:pPr>
            <a:r>
              <a:t>user@research-group:~/presentation$ cat motivation.md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defRPr sz="1100">
                <a:solidFill>
                  <a:srgbClr val="58A6FF"/>
                </a:solidFill>
                <a:latin typeface="Menlo"/>
              </a:defRPr>
            </a:pPr>
          </a:p>
          <a:p>
            <a:r>
              <a:t>╔══════════════════════════════════════╗</a:t>
            </a:r>
          </a:p>
          <a:p>
            <a:r>
              <a:t>║               MOTIVATION               ║</a:t>
            </a:r>
          </a:p>
          <a:p>
            <a:r>
              <a:t>╚══════════════════════════════════════╝</a:t>
            </a:r>
          </a:p>
          <a:p/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2A8FF"/>
                </a:solidFill>
                <a:latin typeface="Menlo"/>
              </a:defRPr>
            </a:pPr>
            <a:r>
              <a:t>#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Menlo"/>
              </a:defRPr>
            </a:pPr>
            <a:r>
              <a:t>  → DFT anharmonic calculations: expensive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Menlo"/>
              </a:defRPr>
            </a:pPr>
            <a:r>
              <a:t>  → Hours to days per molecule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Menlo"/>
              </a:defRPr>
            </a:pPr>
            <a:r>
              <a:t>  → Limits high-throughput 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Menl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2A8FF"/>
                </a:solidFill>
                <a:latin typeface="Menlo"/>
              </a:defRPr>
            </a:pPr>
            <a:r>
              <a:t># 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FB950"/>
                </a:solidFill>
                <a:latin typeface="Menlo"/>
              </a:defRPr>
            </a:pPr>
            <a:r>
              <a:t>  → ML potentials for fast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FB950"/>
                </a:solidFill>
                <a:latin typeface="Menlo"/>
              </a:defRPr>
            </a:pPr>
            <a:r>
              <a:t>  → Gaussian for anharmonic corrections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9496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8A6FF"/>
                </a:solidFill>
                <a:latin typeface="Menlo"/>
              </a:defRPr>
            </a:pPr>
            <a:r>
              <a:t>  → ZMQ bridge for real-time communication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Menl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2A8FF"/>
                </a:solidFill>
                <a:latin typeface="Menlo"/>
              </a:defRPr>
            </a:pPr>
            <a:r>
              <a:t>#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FB950"/>
                </a:solidFill>
                <a:latin typeface="Menlo"/>
              </a:defRPr>
            </a:pPr>
            <a:r>
              <a:t>  ⚡ 10-100× computational speedup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85800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FB950"/>
                </a:solidFill>
                <a:latin typeface="Menlo"/>
              </a:defRPr>
            </a:pPr>
            <a:r>
              <a:t>  ✓ Comparable accuracy to pure DFT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629400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nlo"/>
              </a:defRPr>
            </a:pPr>
            <a:r>
              <a:t>[2/10] -- INSERT -- MACE-Gaussian Interface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nlo"/>
              </a:defRPr>
            </a:pPr>
            <a:r>
              <a:t>user@research-group:~/presentation$ ls -la architecture/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8A6FF"/>
                </a:solidFill>
                <a:latin typeface="Menlo"/>
              </a:defRPr>
            </a:pPr>
            <a:r>
              <a:t>╔═══════════════════════════════╗</a:t>
            </a:r>
          </a:p>
          <a:p>
            <a:r>
              <a:t>║     SYSTEM ARCHITECTURE       ║</a:t>
            </a:r>
          </a:p>
          <a:p>
            <a:r>
              <a:t>╚═══════════════════════════════╝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C9D1D9"/>
                </a:solidFill>
                <a:latin typeface="Menlo"/>
              </a:defRPr>
            </a:pPr>
            <a:r>
              <a:t>total 5</a:t>
            </a:r>
          </a:p>
          <a:p>
            <a:r>
              <a:t>drwxr-xr-x  5 user  group   160  Nov 15 12:00  .</a:t>
            </a:r>
          </a:p>
          <a:p>
            <a:r>
              <a:t>drwxr-xr-x 12 user  group   384  Nov 15 11:00  ..</a:t>
            </a:r>
          </a:p>
          <a:p>
            <a:r>
              <a:t>-rw-r--r--  1 user  group  2.1K  Nov 15 10:30  workflow.png</a:t>
            </a:r>
          </a:p>
          <a:p>
            <a:r>
              <a:t>-rw-r--r--  1 user  group  3.4K  Nov 15 10:31  zmq_bridge.png</a:t>
            </a:r>
          </a:p>
          <a:p>
            <a:r>
              <a:t>-rw-r--r--  1 user  group  1.8K  Nov 15 10:32  module_swap.png</a:t>
            </a:r>
          </a:p>
          <a:p/>
          <a:p>
            <a:r>
              <a:t>📁 XYZ Input → 🔧 MACE Optimization → ⚛️  Gaussian Freq</a:t>
            </a:r>
          </a:p>
          <a:p>
            <a:r>
              <a:t>                                            ↓</a:t>
            </a:r>
          </a:p>
          <a:p>
            <a:r>
              <a:t>                                      🔌 ZMQ Bridge</a:t>
            </a:r>
          </a:p>
          <a:p>
            <a:r>
              <a:t>                                            ↓</a:t>
            </a:r>
          </a:p>
          <a:p>
            <a:r>
              <a:t>                                      🤖 ML Dipoles</a:t>
            </a:r>
          </a:p>
          <a:p>
            <a:r>
              <a:t>                                            ↓</a:t>
            </a:r>
          </a:p>
          <a:p>
            <a:r>
              <a:t>                        📊 Analysis → 📄 HTML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nlo"/>
              </a:defRPr>
            </a:pPr>
            <a:r>
              <a:t>[3/10] -- NORMAL -- architecture/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FB950"/>
                </a:solidFill>
                <a:latin typeface="Menlo"/>
              </a:defRPr>
            </a:pPr>
            <a:r>
              <a:t>user@research-group:~/presentation$ git diff --stat dft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90000"/>
              </a:lnSpc>
              <a:defRPr sz="1200">
                <a:solidFill>
                  <a:srgbClr val="D2A8FF"/>
                </a:solidFill>
                <a:latin typeface="Menlo"/>
              </a:defRPr>
            </a:pPr>
            <a:r>
              <a:t>═══════════════════════════════</a:t>
            </a:r>
          </a:p>
          <a:p>
            <a:r>
              <a:t>     RESULTS &amp; COMPARISON</a:t>
            </a:r>
          </a:p>
          <a:p>
            <a:r>
              <a:t>═══════════════════════════════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000">
                <a:solidFill>
                  <a:srgbClr val="C9D1D9"/>
                </a:solidFill>
                <a:latin typeface="Menlo"/>
              </a:defRPr>
            </a:pPr>
            <a:r>
              <a:t>Comparing: DFT (B3LYP) vs ML (MACE-MP + Espaloma)</a:t>
            </a:r>
          </a:p>
          <a:p/>
          <a:p>
            <a:r>
              <a:t> computation_time    | ████████████████████ -95%</a:t>
            </a:r>
          </a:p>
          <a:p>
            <a:r>
              <a:t> frequency_accuracy  | ██ +2% MAE</a:t>
            </a:r>
          </a:p>
          <a:p>
            <a:r>
              <a:t> intensity_accuracy  | ███ +5% RMSE</a:t>
            </a:r>
          </a:p>
          <a:p>
            <a:r>
              <a:t> mode_matching       | ████████████████████ 98%</a:t>
            </a:r>
          </a:p>
          <a:p/>
          <a:p>
            <a:r>
              <a:t> Summary:</a:t>
            </a:r>
          </a:p>
          <a:p>
            <a:r>
              <a:t> ───────────────────────────────────────────</a:t>
            </a:r>
          </a:p>
          <a:p>
            <a:r>
              <a:t>  Metric               DFT          ML</a:t>
            </a:r>
          </a:p>
          <a:p>
            <a:r>
              <a:t> ───────────────────────────────────────────</a:t>
            </a:r>
          </a:p>
          <a:p>
            <a:r>
              <a:t>  Runtime            8.5 hrs      6.2 min</a:t>
            </a:r>
          </a:p>
          <a:p>
            <a:r>
              <a:t>  Freq MAE              --        12 cm⁻¹</a:t>
            </a:r>
          </a:p>
          <a:p>
            <a:r>
              <a:t>  R²                    --        0.996</a:t>
            </a:r>
          </a:p>
          <a:p>
            <a:r>
              <a:t>  Speed Factor          1×         ~100×</a:t>
            </a:r>
          </a:p>
          <a:p>
            <a:r>
              <a:t> ───────────────────────────────────────────</a:t>
            </a:r>
          </a:p>
          <a:p/>
          <a:p>
            <a:r>
              <a:t> ✓ Successfully validated against DFT baseline</a:t>
            </a:r>
          </a:p>
          <a:p>
            <a:r>
              <a:t> ✓ All fundamental modes matched</a:t>
            </a:r>
          </a:p>
          <a:p>
            <a:r>
              <a:t> ✓ Overtones and combinations included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29400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nlo"/>
              </a:defRPr>
            </a:pPr>
            <a:r>
              <a:t>[4/10] -- NORMAL -- results.md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