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B949E"/>
                </a:solidFill>
                <a:latin typeface="Consolas"/>
              </a:defRPr>
            </a:pPr>
            <a:r>
              <a:t>style 1 — minimal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800">
                <a:solidFill>
                  <a:srgbClr val="58A6FF"/>
                </a:solidFill>
                <a:latin typeface="Consolas"/>
              </a:defRPr>
            </a:pPr>
            <a:r>
              <a:t>$ ./presentation.sh</a:t>
            </a:r>
          </a:p>
          <a:p>
            <a:pPr algn="ctr">
              <a:spcAft>
                <a:spcPts val="0"/>
              </a:spcAft>
              <a:defRPr sz="28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2800">
                <a:solidFill>
                  <a:srgbClr val="8B949E"/>
                </a:solidFill>
                <a:latin typeface="Consolas"/>
              </a:defRPr>
            </a:pPr>
            <a:r>
              <a:t>// ML-accelerated IR spectroscopy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B949E"/>
                </a:solidFill>
                <a:latin typeface="Consolas"/>
              </a:defRPr>
            </a:pPr>
            <a:r>
              <a:t>style 2 — block letters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463040"/>
            <a:ext cx="8778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__  __   _   ___ ___    __ _   _   _   _ ___ ___ _   _   _  _ </a:t>
            </a:r>
          </a:p>
          <a:p>
            <a:pPr algn="ctr"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|  \/  | /_\ / __| __|  / _` | /_\ | | | / __/ __| | /_\ | \| |</a:t>
            </a:r>
          </a:p>
          <a:p>
            <a:pPr algn="ctr"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| |\/| |/ _ \ (__| _|  | (_| |/ _ \| |_| \__ \__ \ |/ _ \| .` |</a:t>
            </a:r>
          </a:p>
          <a:p>
            <a:pPr algn="ctr">
              <a:spcAft>
                <a:spcPts val="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|_|  |_/_/ \_\___|___|  \__, /_/ \_\\___/|___/___/_/_/ \_\_|\_|</a:t>
            </a:r>
          </a:p>
          <a:p>
            <a:pPr algn="ctr">
              <a:spcAft>
                <a:spcPts val="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                    |___/                                  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spectroscopy</a:t>
            </a:r>
          </a:p>
          <a:p>
            <a:pPr algn="ctr">
              <a:spcAft>
                <a:spcPts val="0"/>
              </a:spcAft>
              <a:defRPr sz="1600">
                <a:solidFill>
                  <a:srgbClr val="8B949E"/>
                </a:solidFill>
                <a:latin typeface="Consolas"/>
              </a:defRPr>
            </a:pPr>
            <a:r>
              <a:t>// MACE × Gaussian · ZMQ ·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B949E"/>
                </a:solidFill>
                <a:latin typeface="Consolas"/>
              </a:defRPr>
            </a:pPr>
            <a:r>
              <a:t>style 3 — box frame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8229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┌────────────────────────────────────────────────────┐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│                                    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│                $ ./mace_gaussian.sh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│                                    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│ mace-gaussian  //  ML-accelerated IR spectroscopy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│  MACE × Gaussian 16 · ZMQ bridge · VPT2 pipeline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│                                                    │</a:t>
            </a:r>
          </a:p>
          <a:p>
            <a:pPr algn="ctr"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8B949E"/>
                </a:solidFill>
                <a:latin typeface="Consolas"/>
              </a:defRPr>
            </a:pPr>
            <a:r>
              <a:t>style 4 — molecule-first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7315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700">
                <a:solidFill>
                  <a:srgbClr val="3FB950"/>
                </a:solidFill>
                <a:latin typeface="Consolas"/>
              </a:defRPr>
            </a:pPr>
            <a:r>
              <a:t>      O          O   OH   </a:t>
            </a:r>
          </a:p>
          <a:p>
            <a:pPr algn="ctr">
              <a:spcAft>
                <a:spcPts val="0"/>
              </a:spcAft>
              <a:defRPr sz="1700">
                <a:solidFill>
                  <a:srgbClr val="3FB950"/>
                </a:solidFill>
                <a:latin typeface="Consolas"/>
              </a:defRPr>
            </a:pPr>
            <a:r>
              <a:t>     / \         ‖   |    </a:t>
            </a:r>
          </a:p>
          <a:p>
            <a:pPr algn="ctr">
              <a:spcAft>
                <a:spcPts val="0"/>
              </a:spcAft>
              <a:defRPr sz="1700">
                <a:solidFill>
                  <a:srgbClr val="3FB950"/>
                </a:solidFill>
                <a:latin typeface="Consolas"/>
              </a:defRPr>
            </a:pPr>
            <a:r>
              <a:t>    H   H    CH₃-C-O-C₆H₄-COOH</a:t>
            </a:r>
          </a:p>
          <a:p>
            <a:pPr algn="ctr">
              <a:spcAft>
                <a:spcPts val="0"/>
              </a:spcAft>
              <a:defRPr sz="1700">
                <a:solidFill>
                  <a:srgbClr val="8B949E"/>
                </a:solidFill>
                <a:latin typeface="Consolas"/>
              </a:defRPr>
            </a:pPr>
            <a:r>
              <a:t>    H₂O           aspirin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20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2000">
                <a:solidFill>
                  <a:srgbClr val="58A6FF"/>
                </a:solidFill>
                <a:latin typeface="Consolas"/>
              </a:defRPr>
            </a:pPr>
            <a:r>
              <a:t>$ python3 mace_gaussian.py water.xyz</a:t>
            </a:r>
          </a:p>
          <a:p>
            <a:pPr algn="ctr">
              <a:spcAft>
                <a:spcPts val="0"/>
              </a:spcAft>
              <a:defRPr sz="2000">
                <a:solidFill>
                  <a:srgbClr val="8B949E"/>
                </a:solidFill>
                <a:latin typeface="Consolas"/>
              </a:defRPr>
            </a:pPr>
          </a:p>
          <a:p>
            <a:pPr algn="ctr">
              <a:spcAft>
                <a:spcPts val="0"/>
              </a:spcAft>
              <a:defRPr sz="2000">
                <a:solidFill>
                  <a:srgbClr val="8B949E"/>
                </a:solidFill>
                <a:latin typeface="Consolas"/>
              </a:defRPr>
            </a:pPr>
            <a:r>
              <a:t>// ML potentials + Gaussian VPT2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