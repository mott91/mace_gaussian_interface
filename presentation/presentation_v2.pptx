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1463040"/>
            <a:ext cx="8412480" cy="2743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0"/>
              </a:spcAft>
              <a:defRPr sz="1600">
                <a:solidFill>
                  <a:srgbClr val="58A6FF"/>
                </a:solidFill>
                <a:latin typeface="Consolas"/>
              </a:defRPr>
            </a:pPr>
            <a:r>
              <a:t>_|      _|    _|_|      _|_|_|  _|_|_|_|  </a:t>
            </a:r>
          </a:p>
          <a:p>
            <a:pPr algn="ctr">
              <a:spcAft>
                <a:spcPts val="0"/>
              </a:spcAft>
              <a:defRPr sz="1600">
                <a:solidFill>
                  <a:srgbClr val="58A6FF"/>
                </a:solidFill>
                <a:latin typeface="Consolas"/>
              </a:defRPr>
            </a:pPr>
            <a:r>
              <a:t>_|_|  _|_|  _|    _|  _|        _|        </a:t>
            </a:r>
          </a:p>
          <a:p>
            <a:pPr algn="ctr">
              <a:spcAft>
                <a:spcPts val="0"/>
              </a:spcAft>
              <a:defRPr sz="1600">
                <a:solidFill>
                  <a:srgbClr val="58A6FF"/>
                </a:solidFill>
                <a:latin typeface="Consolas"/>
              </a:defRPr>
            </a:pPr>
            <a:r>
              <a:t>_|  _|  _|  _|_|_|_|  _|        _|_|_|    </a:t>
            </a:r>
          </a:p>
          <a:p>
            <a:pPr algn="ctr">
              <a:spcAft>
                <a:spcPts val="0"/>
              </a:spcAft>
              <a:defRPr sz="1600">
                <a:solidFill>
                  <a:srgbClr val="58A6FF"/>
                </a:solidFill>
                <a:latin typeface="Consolas"/>
              </a:defRPr>
            </a:pPr>
            <a:r>
              <a:t>_|      _|  _|    _|  _|        _|        </a:t>
            </a:r>
          </a:p>
          <a:p>
            <a:pPr algn="ctr">
              <a:spcAft>
                <a:spcPts val="0"/>
              </a:spcAft>
              <a:defRPr sz="1600">
                <a:solidFill>
                  <a:srgbClr val="58A6FF"/>
                </a:solidFill>
                <a:latin typeface="Consolas"/>
              </a:defRPr>
            </a:pPr>
            <a:r>
              <a:t>_|      _|  _|    _|    _|_|_|  _|_|_|_|  </a:t>
            </a:r>
          </a:p>
          <a:p>
            <a:pPr algn="ctr">
              <a:spcAft>
                <a:spcPts val="0"/>
              </a:spcAft>
              <a:defRPr sz="1600">
                <a:solidFill>
                  <a:srgbClr val="3FB950"/>
                </a:solidFill>
                <a:latin typeface="Consolas"/>
              </a:defRPr>
            </a:pPr>
            <a:r>
              <a:t>              GAUSSIAN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4572000"/>
            <a:ext cx="768096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>
                <a:solidFill>
                  <a:srgbClr val="8B949E"/>
                </a:solidFill>
                <a:latin typeface="Consolas"/>
              </a:defRPr>
            </a:pPr>
            <a:r>
              <a:t>// ML-accelerated IR spectrum calculations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626364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>
                <a:solidFill>
                  <a:srgbClr val="8B949E"/>
                </a:solidFill>
                <a:latin typeface="Consolas"/>
              </a:defRPr>
            </a:pPr>
            <a:r>
              <a:t>Manuel Ott · Hofer Lab · 2026-03-11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58A6FF"/>
                </a:solidFill>
                <a:latin typeface="Consolas"/>
              </a:defRPr>
            </a:pPr>
            <a:r>
              <a:t>$ cat motivation.md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051560"/>
            <a:ext cx="77724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400">
                <a:solidFill>
                  <a:srgbClr val="58A6FF"/>
                </a:solidFill>
                <a:latin typeface="Consolas"/>
              </a:defRPr>
            </a:pPr>
            <a:r>
              <a:t># Problem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DFT frequency calculations: slow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Minutes to hours per molecule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Bottleneck for systematic benchmark campaigns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400"/>
              </a:spcAft>
              <a:defRPr sz="1400">
                <a:solidFill>
                  <a:srgbClr val="58A6FF"/>
                </a:solidFill>
                <a:latin typeface="Consolas"/>
              </a:defRPr>
            </a:pPr>
            <a:r>
              <a:t># Solution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Hybrid ML-QM approach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ML dipoles and energies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Possibly 10–100× faster than pure DFT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400"/>
              </a:spcAft>
              <a:defRPr sz="1400">
                <a:solidFill>
                  <a:srgbClr val="58A6FF"/>
                </a:solidFill>
                <a:latin typeface="Consolas"/>
              </a:defRPr>
            </a:pPr>
            <a:r>
              <a:t># Impact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Enable rapid IR spectral predictions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Maintain DFT-level accuracy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Systematic comparison: energy surface vs dipole model quality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626364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>
                <a:solidFill>
                  <a:srgbClr val="8B949E"/>
                </a:solidFill>
                <a:latin typeface="Consolas"/>
              </a:defRPr>
            </a:pPr>
            <a:r>
              <a:t>Manuel Ott · Hofer Lab · 2026-03-11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58A6FF"/>
                </a:solidFill>
                <a:latin typeface="Consolas"/>
              </a:defRPr>
            </a:pPr>
            <a:r>
              <a:t>$ cat ir_spectroscopy.md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051560"/>
            <a:ext cx="77724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400">
                <a:solidFill>
                  <a:srgbClr val="58A6FF"/>
                </a:solidFill>
                <a:latin typeface="Consolas"/>
              </a:defRPr>
            </a:pPr>
            <a:r>
              <a:t># How IR spectra are computed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Displace each atom in x, y, z  (small nudges around equilibrium)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For each displacement, compute energy + forces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Build Hessian (matrix of force constants) → diagonalise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Eigenvalues = frequencies, eigenvectors = normal modes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3N−6 modes for N atoms  (e.g. water: 3 modes)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400"/>
              </a:spcAft>
              <a:defRPr sz="1400">
                <a:solidFill>
                  <a:srgbClr val="58A6FF"/>
                </a:solidFill>
                <a:latin typeface="Consolas"/>
              </a:defRPr>
            </a:pPr>
            <a:r>
              <a:t># Where do intensities come from?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Dipole μ⃗ = charge distribution of the molecule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When atoms vibrate, μ⃗ changes → molecule absorbs IR light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Intensity ∝ |∂μ/∂Q|²  (how much dipole changes per mode)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So we also need μ⃗ at every displaced geometry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400"/>
              </a:spcAft>
              <a:defRPr sz="1400">
                <a:solidFill>
                  <a:srgbClr val="58A6FF"/>
                </a:solidFill>
                <a:latin typeface="Consolas"/>
              </a:defRPr>
            </a:pPr>
            <a:r>
              <a:t># The bottleneck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Gaussian displaces the molecule hundreds of times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Each time: needs energy E, forces F, and dipole μ⃗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With DFT: minutes to hours per molecule</a:t>
            </a:r>
          </a:p>
          <a:p>
            <a:pPr>
              <a:spcAft>
                <a:spcPts val="400"/>
              </a:spcAft>
              <a:defRPr sz="1400">
                <a:solidFill>
                  <a:srgbClr val="3FB950"/>
                </a:solidFill>
                <a:latin typeface="Consolas"/>
              </a:defRPr>
            </a:pPr>
            <a:r>
              <a:t>  → With ML:  seconds  ← this is what we replace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626364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>
                <a:solidFill>
                  <a:srgbClr val="8B949E"/>
                </a:solidFill>
                <a:latin typeface="Consolas"/>
              </a:defRPr>
            </a:pPr>
            <a:r>
              <a:t>Manuel Ott · Hofer Lab · 2026-03-11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58A6FF"/>
                </a:solidFill>
                <a:latin typeface="Consolas"/>
              </a:defRPr>
            </a:pPr>
            <a:r>
              <a:t>$ python3 workflow.py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051560"/>
            <a:ext cx="7772400" cy="4937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  <a:defRPr sz="1400">
                <a:solidFill>
                  <a:srgbClr val="3FB950"/>
                </a:solidFill>
                <a:latin typeface="Consolas"/>
              </a:defRPr>
            </a:pPr>
            <a:r>
              <a:t>                              [molecule.xyz]</a:t>
            </a:r>
          </a:p>
          <a:p>
            <a:pPr>
              <a:spcAft>
                <a:spcPts val="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                                  ▼</a:t>
            </a:r>
          </a:p>
          <a:p>
            <a:pPr>
              <a:spcAft>
                <a:spcPts val="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┌────────────────────────────────────────────────────────────────────────┐</a:t>
            </a:r>
          </a:p>
          <a:p>
            <a:pPr>
              <a:spcAft>
                <a:spcPts val="0"/>
              </a:spcAft>
              <a:defRPr sz="1400">
                <a:solidFill>
                  <a:srgbClr val="58A6FF"/>
                </a:solidFill>
                <a:latin typeface="Consolas"/>
              </a:defRPr>
            </a:pPr>
            <a:r>
              <a:t>  │  GEOMETRY OPTIMIZER   • load_geometry()  • mace_omol.optimize()        │</a:t>
            </a:r>
          </a:p>
          <a:p>
            <a:pPr>
              <a:spcAft>
                <a:spcPts val="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└───────────────────────────────┬────────────────────────────────────────┘</a:t>
            </a:r>
          </a:p>
          <a:p>
            <a:pPr>
              <a:spcAft>
                <a:spcPts val="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               ┌────────────────┴─────────────────┐</a:t>
            </a:r>
          </a:p>
          <a:p>
            <a:pPr>
              <a:spcAft>
                <a:spcPts val="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               ▼                                  ▼</a:t>
            </a:r>
          </a:p>
          <a:p>
            <a:pPr>
              <a:spcAft>
                <a:spcPts val="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┌────────────────────────────────┐  ┌────────────────────────────────────┐</a:t>
            </a:r>
          </a:p>
          <a:p>
            <a:pPr>
              <a:spcAft>
                <a:spcPts val="0"/>
              </a:spcAft>
              <a:defRPr sz="1400">
                <a:solidFill>
                  <a:srgbClr val="58A6FF"/>
                </a:solidFill>
                <a:latin typeface="Consolas"/>
              </a:defRPr>
            </a:pPr>
            <a:r>
              <a:t>  │  DFT BASELINE                  │  │  ML FREQ CALC                      │</a:t>
            </a:r>
          </a:p>
          <a:p>
            <a:pPr>
              <a:spcAft>
                <a:spcPts val="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│  ┌──────────────────┐          │  │  • load_mace_calculator()           │</a:t>
            </a:r>
          </a:p>
          <a:p>
            <a:pPr>
              <a:spcAft>
                <a:spcPts val="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│  │ Built-in opt     │          │  │    (MACE-MP / MACE-OMOL)            │</a:t>
            </a:r>
          </a:p>
          <a:p>
            <a:pPr>
              <a:spcAft>
                <a:spcPts val="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│  │ B3LYP/6-31G(d,p)│          │  │  • get_dipole_calculator()           │</a:t>
            </a:r>
          </a:p>
          <a:p>
            <a:pPr>
              <a:spcAft>
                <a:spcPts val="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│  └──────────────────┘          │  │    (Espaloma / MACE_DIPOLE)          │</a:t>
            </a:r>
          </a:p>
          <a:p>
            <a:pPr>
              <a:spcAft>
                <a:spcPts val="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│  • gaussian_freq()             │  │  • setup_zmq_server()               │</a:t>
            </a:r>
          </a:p>
          <a:p>
            <a:pPr>
              <a:spcAft>
                <a:spcPts val="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│  • gaussian_dipoles()          │  │  • launch_gaussian()                │</a:t>
            </a:r>
          </a:p>
          <a:p>
            <a:pPr>
              <a:spcAft>
                <a:spcPts val="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│  • parse_gaussian()            │  │  • zmq_dipole_loop()                │</a:t>
            </a:r>
          </a:p>
          <a:p>
            <a:pPr>
              <a:spcAft>
                <a:spcPts val="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└──────────────┬─────────────────┘  └──────────────────┬─────────────────┘</a:t>
            </a:r>
          </a:p>
          <a:p>
            <a:pPr>
              <a:spcAft>
                <a:spcPts val="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               └────────────────┬─────────────────────┘</a:t>
            </a:r>
          </a:p>
          <a:p>
            <a:pPr>
              <a:spcAft>
                <a:spcPts val="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                                ▼</a:t>
            </a:r>
          </a:p>
          <a:p>
            <a:pPr>
              <a:spcAft>
                <a:spcPts val="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┌────────────────────────────────────────────────────────────────────────┐</a:t>
            </a:r>
          </a:p>
          <a:p>
            <a:pPr>
              <a:spcAft>
                <a:spcPts val="0"/>
              </a:spcAft>
              <a:defRPr sz="1400">
                <a:solidFill>
                  <a:srgbClr val="58A6FF"/>
                </a:solidFill>
                <a:latin typeface="Consolas"/>
              </a:defRPr>
            </a:pPr>
            <a:r>
              <a:t>  │  ANALYSIS   load_results → eigenvector_matching → kde → metrics → plot │</a:t>
            </a:r>
          </a:p>
          <a:p>
            <a:pPr>
              <a:spcAft>
                <a:spcPts val="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└───────────────────────────────┬────────────────────────────────────────┘</a:t>
            </a:r>
          </a:p>
          <a:p>
            <a:pPr>
              <a:spcAft>
                <a:spcPts val="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                                ▼</a:t>
            </a:r>
          </a:p>
          <a:p>
            <a:pPr>
              <a:spcAft>
                <a:spcPts val="0"/>
              </a:spcAft>
              <a:defRPr sz="1400">
                <a:solidFill>
                  <a:srgbClr val="3FB950"/>
                </a:solidFill>
                <a:latin typeface="Consolas"/>
              </a:defRPr>
            </a:pPr>
            <a:r>
              <a:t>                        generate_html_report()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626364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>
                <a:solidFill>
                  <a:srgbClr val="8B949E"/>
                </a:solidFill>
                <a:latin typeface="Consolas"/>
              </a:defRPr>
            </a:pPr>
            <a:r>
              <a:t>Manuel Ott · Hofer Lab · 2026-03-11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58A6FF"/>
                </a:solidFill>
                <a:latin typeface="Consolas"/>
              </a:defRPr>
            </a:pPr>
            <a:r>
              <a:t>$ ls -l calculators/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51560"/>
            <a:ext cx="438912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300">
                <a:solidFill>
                  <a:srgbClr val="58A6FF"/>
                </a:solidFill>
                <a:latin typeface="Consolas"/>
              </a:defRPr>
            </a:pPr>
            <a:r>
              <a:t># MACE4IR (direct dipole)</a:t>
            </a:r>
          </a:p>
          <a:p>
            <a:pPr>
              <a:spcAft>
                <a:spcPts val="300"/>
              </a:spcAft>
              <a:defRPr sz="13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Input: atomic positions + species</a:t>
            </a: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     ↓  E(3)-equivariant GNN</a:t>
            </a: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Output: μ = (μx, μy, μz)</a:t>
            </a:r>
          </a:p>
          <a:p>
            <a:pPr>
              <a:spcAft>
                <a:spcPts val="300"/>
              </a:spcAft>
              <a:defRPr sz="13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→ Equivariant: respects rotations</a:t>
            </a: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→ Trained specifically on dipoles</a:t>
            </a: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→ 78-element coverage</a:t>
            </a: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→ Custom MACE4IR model (78 el.)</a:t>
            </a: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→ Fast — single forward pass</a:t>
            </a:r>
          </a:p>
          <a:p>
            <a:pPr>
              <a:spcAft>
                <a:spcPts val="300"/>
              </a:spcAft>
              <a:defRPr sz="13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300"/>
              </a:spcAft>
              <a:defRPr sz="1300">
                <a:solidFill>
                  <a:srgbClr val="58A6FF"/>
                </a:solidFill>
                <a:latin typeface="Consolas"/>
              </a:defRPr>
            </a:pPr>
            <a:r>
              <a:t># Why E(3)-equivariance matters</a:t>
            </a: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Dipole is a vector — it must rotate</a:t>
            </a: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with the molecule. Standard NNs</a:t>
            </a: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don't guarantee this.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663440" y="1051560"/>
            <a:ext cx="402336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300">
                <a:solidFill>
                  <a:srgbClr val="58A6FF"/>
                </a:solidFill>
                <a:latin typeface="Consolas"/>
              </a:defRPr>
            </a:pPr>
            <a:r>
              <a:t># Espaloma (charge-based dipole)</a:t>
            </a:r>
          </a:p>
          <a:p>
            <a:pPr>
              <a:spcAft>
                <a:spcPts val="300"/>
              </a:spcAft>
              <a:defRPr sz="13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Input: molecular graph</a:t>
            </a: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     ↓  graph neural network</a:t>
            </a: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Output: partial charges q₁…qₙ</a:t>
            </a: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     ↓  μ = Σ qᵢ · rᵢ</a:t>
            </a: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Output: dipole vector</a:t>
            </a:r>
          </a:p>
          <a:p>
            <a:pPr>
              <a:spcAft>
                <a:spcPts val="300"/>
              </a:spcAft>
              <a:defRPr sz="13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→ Physics-based construction</a:t>
            </a: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→ Interpretable (charges visible)</a:t>
            </a: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→ Available as pip package</a:t>
            </a: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→ No custom model needed</a:t>
            </a:r>
          </a:p>
          <a:p>
            <a:pPr>
              <a:spcAft>
                <a:spcPts val="300"/>
              </a:spcAft>
              <a:defRPr sz="13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300"/>
              </a:spcAft>
              <a:defRPr sz="1300">
                <a:solidFill>
                  <a:srgbClr val="58A6FF"/>
                </a:solidFill>
                <a:latin typeface="Consolas"/>
              </a:defRPr>
            </a:pPr>
            <a:r>
              <a:t># Energy calculators (PES)</a:t>
            </a:r>
          </a:p>
          <a:p>
            <a:pPr>
              <a:spcAft>
                <a:spcPts val="300"/>
              </a:spcAft>
              <a:defRPr sz="13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300"/>
              </a:spcAft>
              <a:defRPr sz="1300">
                <a:solidFill>
                  <a:srgbClr val="3FB950"/>
                </a:solidFill>
                <a:latin typeface="Consolas"/>
              </a:defRPr>
            </a:pPr>
            <a:r>
              <a:t>  MACE-OMOL-0   molecules, default</a:t>
            </a:r>
          </a:p>
          <a:p>
            <a:pPr>
              <a:spcAft>
                <a:spcPts val="300"/>
              </a:spcAft>
              <a:defRPr sz="1300">
                <a:solidFill>
                  <a:srgbClr val="3FB950"/>
                </a:solidFill>
                <a:latin typeface="Consolas"/>
              </a:defRPr>
            </a:pPr>
            <a:r>
              <a:t>  MACE-MP-0     universal (130 el.)</a:t>
            </a:r>
          </a:p>
          <a:p>
            <a:pPr>
              <a:spcAft>
                <a:spcPts val="300"/>
              </a:spcAft>
              <a:defRPr sz="1300">
                <a:solidFill>
                  <a:srgbClr val="3FB950"/>
                </a:solidFill>
                <a:latin typeface="Consolas"/>
              </a:defRPr>
            </a:pPr>
            <a:r>
              <a:t>  MACE-OFF      organic molecules</a:t>
            </a:r>
          </a:p>
          <a:p>
            <a:pPr>
              <a:spcAft>
                <a:spcPts val="300"/>
              </a:spcAft>
              <a:defRPr sz="1300">
                <a:solidFill>
                  <a:srgbClr val="3FB950"/>
                </a:solidFill>
                <a:latin typeface="Consolas"/>
              </a:defRPr>
            </a:pPr>
            <a:r>
              <a:t>  MACE-ANI-CC   organic (CC training data)</a:t>
            </a:r>
          </a:p>
          <a:p>
            <a:pPr>
              <a:spcAft>
                <a:spcPts val="300"/>
              </a:spcAft>
              <a:defRPr sz="13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→ 4 energy × 2 dipole = 8 combos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626364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>
                <a:solidFill>
                  <a:srgbClr val="8B949E"/>
                </a:solidFill>
                <a:latin typeface="Consolas"/>
              </a:defRPr>
            </a:pPr>
            <a:r>
              <a:t>Manuel Ott · Hofer Lab · 2026-03-11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58A6FF"/>
                </a:solidFill>
                <a:latin typeface="Consolas"/>
              </a:defRPr>
            </a:pPr>
            <a:r>
              <a:t>$ cat zmq_bridge.md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515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300">
                <a:solidFill>
                  <a:srgbClr val="58A6FF"/>
                </a:solidFill>
                <a:latin typeface="Consolas"/>
              </a:defRPr>
            </a:pPr>
            <a:r>
              <a:t># Gaussian needs E, F, μ⃗ at every displaced geometry — how do we inject ML?</a:t>
            </a:r>
          </a:p>
          <a:p>
            <a:pPr>
              <a:spcAft>
                <a:spcPts val="2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→ Gaussian 'External' keyword: calls an external script per displacement</a:t>
            </a:r>
          </a:p>
          <a:p>
            <a:pPr>
              <a:spcAft>
                <a:spcPts val="2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→ We intercept this with a ZMQ bridge — no Gaussian modifications needed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2560320"/>
            <a:ext cx="7772400" cy="3657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┌─────────────────────┐                    ┌─────────────────────────────┐</a:t>
            </a:r>
          </a:p>
          <a:p>
            <a:pPr>
              <a:spcAft>
                <a:spcPts val="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│                     │   displacement #n  │                             │</a:t>
            </a:r>
          </a:p>
          <a:p>
            <a:pPr>
              <a:spcAft>
                <a:spcPts val="0"/>
              </a:spcAft>
              <a:defRPr sz="1400">
                <a:solidFill>
                  <a:srgbClr val="58A6FF"/>
                </a:solidFill>
                <a:latin typeface="Consolas"/>
              </a:defRPr>
            </a:pPr>
            <a:r>
              <a:t>  │    GAUSSIAN 16      │ ──────────────────→│     gm_helper.py            │</a:t>
            </a:r>
          </a:p>
          <a:p>
            <a:pPr>
              <a:spcAft>
                <a:spcPts val="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│                     │                    │     (External script)        │</a:t>
            </a:r>
          </a:p>
          <a:p>
            <a:pPr>
              <a:spcAft>
                <a:spcPts val="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│    freq=anharmonic  │                    └──────────────┬──────────────┘</a:t>
            </a:r>
          </a:p>
          <a:p>
            <a:pPr>
              <a:spcAft>
                <a:spcPts val="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│    external='...'   │                                   │ ZMQ IPC</a:t>
            </a:r>
          </a:p>
          <a:p>
            <a:pPr>
              <a:spcAft>
                <a:spcPts val="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│                     │                                   ▼</a:t>
            </a:r>
          </a:p>
          <a:p>
            <a:pPr>
              <a:spcAft>
                <a:spcPts val="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│                     │                    ┌─────────────────────────────┐</a:t>
            </a:r>
          </a:p>
          <a:p>
            <a:pPr>
              <a:spcAft>
                <a:spcPts val="0"/>
              </a:spcAft>
              <a:defRPr sz="1400">
                <a:solidFill>
                  <a:srgbClr val="58A6FF"/>
                </a:solidFill>
                <a:latin typeface="Consolas"/>
              </a:defRPr>
            </a:pPr>
            <a:r>
              <a:t>  │                     │                    │     zmq_server.py           │</a:t>
            </a:r>
          </a:p>
          <a:p>
            <a:pPr>
              <a:spcAft>
                <a:spcPts val="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│                     │                    │                             │</a:t>
            </a:r>
          </a:p>
          <a:p>
            <a:pPr>
              <a:spcAft>
                <a:spcPts val="0"/>
              </a:spcAft>
              <a:defRPr sz="1400">
                <a:solidFill>
                  <a:srgbClr val="3FB950"/>
                </a:solidFill>
                <a:latin typeface="Consolas"/>
              </a:defRPr>
            </a:pPr>
            <a:r>
              <a:t>  │                     │     fort.7         │  ┌─ MACE energy → E, F     │</a:t>
            </a:r>
          </a:p>
          <a:p>
            <a:pPr>
              <a:spcAft>
                <a:spcPts val="0"/>
              </a:spcAft>
              <a:defRPr sz="1400">
                <a:solidFill>
                  <a:srgbClr val="3FB950"/>
                </a:solidFill>
                <a:latin typeface="Consolas"/>
              </a:defRPr>
            </a:pPr>
            <a:r>
              <a:t>  │                     │ ←──────────────────│  └─ MACE dipole → μ⃗        │</a:t>
            </a:r>
          </a:p>
          <a:p>
            <a:pPr>
              <a:spcAft>
                <a:spcPts val="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│                     │   E, F, μ⃗          │                             │</a:t>
            </a:r>
          </a:p>
          <a:p>
            <a:pPr>
              <a:spcAft>
                <a:spcPts val="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└─────────────────────┘                    └─────────────────────────────┘</a:t>
            </a:r>
          </a:p>
          <a:p>
            <a:pPr>
              <a:spcAft>
                <a:spcPts val="0"/>
              </a:spcAft>
              <a:defRPr sz="14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↻ repeats for every displacement (hundreds per molecule)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626364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>
                <a:solidFill>
                  <a:srgbClr val="8B949E"/>
                </a:solidFill>
                <a:latin typeface="Consolas"/>
              </a:defRPr>
            </a:pPr>
            <a:r>
              <a:t>Manuel Ott · Hofer Lab · 2026-03-11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58A6FF"/>
                </a:solidFill>
                <a:latin typeface="Consolas"/>
              </a:defRPr>
            </a:pPr>
            <a:r>
              <a:t>$ cat mode_matching.md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051560"/>
            <a:ext cx="77724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400">
                <a:solidFill>
                  <a:srgbClr val="58A6FF"/>
                </a:solidFill>
                <a:latin typeface="Consolas"/>
              </a:defRPr>
            </a:pPr>
            <a:r>
              <a:t># Problem: ML and DFT modes can be in different order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DFT:  [1595, 1610, 2900, 3050, 3100] cm⁻¹</a:t>
            </a:r>
          </a:p>
          <a:p>
            <a:pPr>
              <a:spcAft>
                <a:spcPts val="400"/>
              </a:spcAft>
              <a:defRPr sz="1400">
                <a:solidFill>
                  <a:srgbClr val="D29922"/>
                </a:solidFill>
                <a:latin typeface="Consolas"/>
              </a:defRPr>
            </a:pPr>
            <a:r>
              <a:t>  ML:   [1608, 1590, 2905, 3048, 3102] cm⁻¹   ← modes 1 &amp; 2 swapped!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1595 and 1610 are close but physically different modes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400"/>
              </a:spcAft>
              <a:defRPr sz="1400">
                <a:solidFill>
                  <a:srgbClr val="58A6FF"/>
                </a:solidFill>
                <a:latin typeface="Consolas"/>
              </a:defRPr>
            </a:pPr>
            <a:r>
              <a:t># Solution: Eigenvector dot product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Each mode = eigenvector (3N-dim displacement pattern)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Same physical motion → parallel eigenvectors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similarity(i, j) = |v_ML[i] · v_DFT[j]|     (0 = orthogonal, 1 = same)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Match by motion, not by frequency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400"/>
              </a:spcAft>
              <a:defRPr sz="1400">
                <a:solidFill>
                  <a:srgbClr val="58A6FF"/>
                </a:solidFill>
                <a:latin typeface="Consolas"/>
              </a:defRPr>
            </a:pPr>
            <a:r>
              <a:t># Example</a:t>
            </a:r>
          </a:p>
          <a:p>
            <a:pPr>
              <a:spcAft>
                <a:spcPts val="400"/>
              </a:spcAft>
              <a:defRPr sz="1400">
                <a:solidFill>
                  <a:srgbClr val="F85149"/>
                </a:solidFill>
                <a:latin typeface="Consolas"/>
              </a:defRPr>
            </a:pPr>
            <a:r>
              <a:t>  ML 1608 cm⁻¹ → DFT 1595 cm⁻¹  [overlap: 0.12]   ✗ closest freq, wrong mode</a:t>
            </a:r>
          </a:p>
          <a:p>
            <a:pPr>
              <a:spcAft>
                <a:spcPts val="400"/>
              </a:spcAft>
              <a:defRPr sz="1400">
                <a:solidFill>
                  <a:srgbClr val="3FB950"/>
                </a:solidFill>
                <a:latin typeface="Consolas"/>
              </a:defRPr>
            </a:pPr>
            <a:r>
              <a:t>  ML 1608 cm⁻¹ → DFT 1610 cm⁻¹  [overlap: 0.97]   ✓ correct — same motion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626364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>
                <a:solidFill>
                  <a:srgbClr val="8B949E"/>
                </a:solidFill>
                <a:latin typeface="Consolas"/>
              </a:defRPr>
            </a:pPr>
            <a:r>
              <a:t>Manuel Ott · Hofer Lab · 2026-03-11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58A6FF"/>
                </a:solidFill>
                <a:latin typeface="Consolas"/>
              </a:defRPr>
            </a:pPr>
            <a:r>
              <a:t>$ ls analysis_results_harmonic/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051560"/>
            <a:ext cx="77724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400">
                <a:solidFill>
                  <a:srgbClr val="58A6FF"/>
                </a:solidFill>
                <a:latin typeface="Consolas"/>
              </a:defRPr>
            </a:pPr>
            <a:r>
              <a:t># Spectrum analysis reports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400"/>
              </a:spcAft>
              <a:defRPr sz="1400">
                <a:solidFill>
                  <a:srgbClr val="3FB950"/>
                </a:solidFill>
                <a:latin typeface="Consolas"/>
              </a:defRPr>
            </a:pPr>
            <a:r>
              <a:t>       O                       O   OH</a:t>
            </a:r>
          </a:p>
          <a:p>
            <a:pPr>
              <a:spcAft>
                <a:spcPts val="400"/>
              </a:spcAft>
              <a:defRPr sz="1400">
                <a:solidFill>
                  <a:srgbClr val="3FB950"/>
                </a:solidFill>
                <a:latin typeface="Consolas"/>
              </a:defRPr>
            </a:pPr>
            <a:r>
              <a:t>      / \                      ‖   |</a:t>
            </a:r>
          </a:p>
          <a:p>
            <a:pPr>
              <a:spcAft>
                <a:spcPts val="400"/>
              </a:spcAft>
              <a:defRPr sz="1400">
                <a:solidFill>
                  <a:srgbClr val="3FB950"/>
                </a:solidFill>
                <a:latin typeface="Consolas"/>
              </a:defRPr>
            </a:pPr>
            <a:r>
              <a:t>     H   H   H₂O          CH₃-C-O-C₆H₄-COOH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                             aspirin C₉H₈O₄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400"/>
              </a:spcAft>
              <a:defRPr sz="1400">
                <a:solidFill>
                  <a:srgbClr val="3FB950"/>
                </a:solidFill>
                <a:latin typeface="Consolas"/>
              </a:defRPr>
            </a:pPr>
            <a:r>
              <a:t>  water/report.html       3 atoms  · 3 modes  · 8 combos</a:t>
            </a:r>
          </a:p>
          <a:p>
            <a:pPr>
              <a:spcAft>
                <a:spcPts val="400"/>
              </a:spcAft>
              <a:defRPr sz="1400">
                <a:solidFill>
                  <a:srgbClr val="3FB950"/>
                </a:solidFill>
                <a:latin typeface="Consolas"/>
              </a:defRPr>
            </a:pPr>
            <a:r>
              <a:t>  aspirin/report.html    19 atoms  · 51 modes · 4 combos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Each report: regression plots · KDE spectra · mode matching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Open: $ open analysis_results_harmonic/water/report.html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       $ open analysis_results_harmonic/aspirin/report.html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626364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>
                <a:solidFill>
                  <a:srgbClr val="8B949E"/>
                </a:solidFill>
                <a:latin typeface="Consolas"/>
              </a:defRPr>
            </a:pPr>
            <a:r>
              <a:t>Manuel Ott · Hofer Lab · 2026-03-11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58A6FF"/>
                </a:solidFill>
                <a:latin typeface="Consolas"/>
              </a:defRPr>
            </a:pPr>
            <a:r>
              <a:t>$ cat analysis_results_harmonic/water/data/metrics_summary.json | sort-by-mae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051560"/>
            <a:ext cx="77724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400">
                <a:solidFill>
                  <a:srgbClr val="58A6FF"/>
                </a:solidFill>
                <a:latin typeface="Consolas"/>
              </a:defRPr>
            </a:pPr>
            <a:r>
              <a:t># Harmonic benchmark — water (H₂O, 3 modes)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Ref: B3LYP/6-31G(d,p)   |   sorted by MAE(freq) ascending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Energy model    Dipole      MAE(freq)   R²(freq)    R²(intens)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────────────────────────────────────────────────────────────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mace_anicc      mace_ml       19.0 cm⁻¹   0.9999974   0.72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mace_anicc      espaloma      19.0 cm⁻¹   0.9999974   0.52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mace_off        espaloma      20.7 cm⁻¹   0.9999344   0.52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mace_off        mace_ml       20.7 cm⁻¹   0.9999344   0.72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mace_omol       espaloma      22.7 cm⁻¹   0.9999631   0.52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mace_omol       mace_ml       22.7 cm⁻¹   0.9999631   0.72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mace_mp         mace_ml      106.3 cm⁻¹   0.9999981   0.72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mace_mp         espaloma     106.3 cm⁻¹   0.9999981   0.51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Frequencies: all combos excellent (R² &gt; 0.9999)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Intensities: mace_ml consistently beats espaloma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626364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>
                <a:solidFill>
                  <a:srgbClr val="8B949E"/>
                </a:solidFill>
                <a:latin typeface="Consolas"/>
              </a:defRPr>
            </a:pPr>
            <a:r>
              <a:t>Manuel Ott · Hofer Lab · 2026-03-11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58A6FF"/>
                </a:solidFill>
                <a:latin typeface="Consolas"/>
              </a:defRPr>
            </a:pPr>
            <a:r>
              <a:t>$ cat analysis_results_harmonic/aspirin/data/metrics_summary.json | sort-by-mae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051560"/>
            <a:ext cx="77724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400">
                <a:solidFill>
                  <a:srgbClr val="58A6FF"/>
                </a:solidFill>
                <a:latin typeface="Consolas"/>
              </a:defRPr>
            </a:pPr>
            <a:r>
              <a:t># Harmonic benchmark — aspirin (C₉H₈O₄, 51 modes)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Ref: B3LYP/6-31G(d,p)   |   sorted by MAE(freq) ascending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Energy model    Dipole      MAE(freq)   R²(freq)    R²(intens)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────────────────────────────────────────────────────────────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mace_omol       espaloma       8.8 cm⁻¹   0.9998492   0.25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mace_omol       mace_ml        8.8 cm⁻¹   0.9998492   0.46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mace_mp         mace_ml       97.8 cm⁻¹   0.9957866   0.29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mace_mp         espaloma      97.8 cm⁻¹   0.9957866   0.15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mace_omol: best accuracy (MAE &lt; 9 cm⁻¹, R² 0.9998)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mace_mp: most speedup (~29×) but worse accuracy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626364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>
                <a:solidFill>
                  <a:srgbClr val="8B949E"/>
                </a:solidFill>
                <a:latin typeface="Consolas"/>
              </a:defRPr>
            </a:pPr>
            <a:r>
              <a:t>Manuel Ott · Hofer Lab · 2026-03-11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58A6FF"/>
                </a:solidFill>
                <a:latin typeface="Consolas"/>
              </a:defRPr>
            </a:pPr>
            <a:r>
              <a:t>$ python benchmark.py --scaling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051560"/>
            <a:ext cx="77724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400">
                <a:solidFill>
                  <a:srgbClr val="58A6FF"/>
                </a:solidFill>
                <a:latin typeface="Consolas"/>
              </a:defRPr>
            </a:pPr>
            <a:r>
              <a:t># ML speedup scales with molecule size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Dipole step: ML vs DFT (B3LYP/6-31G(d,p))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molecule      atoms         speedup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──────────────────────────────────────────────────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water       ( 3 atoms)  |=                   |  ~1×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glycine     (10 atoms)  |======              |  ~7–10×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aspirin     (21 atoms)  |====================|  ~18–29×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Water (3 atoms): ML overhead visible — no speedup at this scale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Glycine (10 atoms): ~7–10× — target use case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Aspirin (21 atoms): ~18–29× — strong benefit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Speedup source: DFT dipoles O(N³); ML dipoles O(N)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(estimated ranges — not benchmarked to the second)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626364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>
                <a:solidFill>
                  <a:srgbClr val="8B949E"/>
                </a:solidFill>
                <a:latin typeface="Consolas"/>
              </a:defRPr>
            </a:pPr>
            <a:r>
              <a:t>Manuel Ott · Hofer Lab · 2026-03-11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58A6FF"/>
                </a:solidFill>
                <a:latin typeface="Consolas"/>
              </a:defRPr>
            </a:pPr>
            <a:r>
              <a:t>$ git log --oneline --graph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51560"/>
            <a:ext cx="438912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300">
                <a:solidFill>
                  <a:srgbClr val="58A6FF"/>
                </a:solidFill>
                <a:latin typeface="Consolas"/>
              </a:defRPr>
            </a:pPr>
            <a:r>
              <a:t># What we built</a:t>
            </a: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ZMQ bridge: ML dipoles → Gaussian VPT2</a:t>
            </a:r>
          </a:p>
          <a:p>
            <a:pPr>
              <a:spcAft>
                <a:spcPts val="300"/>
              </a:spcAft>
              <a:defRPr sz="1300">
                <a:solidFill>
                  <a:srgbClr val="8B949E"/>
                </a:solidFill>
                <a:latin typeface="Consolas"/>
              </a:defRPr>
            </a:pPr>
            <a:r>
              <a:t>  CLI: mace-gaussian run molecule.xyz</a:t>
            </a: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4 energy × 2 dipole models = 8 combinations</a:t>
            </a:r>
          </a:p>
          <a:p>
            <a:pPr>
              <a:spcAft>
                <a:spcPts val="300"/>
              </a:spcAft>
              <a:defRPr sz="13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300"/>
              </a:spcAft>
              <a:defRPr sz="1300">
                <a:solidFill>
                  <a:srgbClr val="58A6FF"/>
                </a:solidFill>
                <a:latin typeface="Consolas"/>
              </a:defRPr>
            </a:pPr>
            <a:r>
              <a:t># What we ran</a:t>
            </a: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Harmonic benchmark across 8 molecules</a:t>
            </a:r>
          </a:p>
          <a:p>
            <a:pPr>
              <a:spcAft>
                <a:spcPts val="300"/>
              </a:spcAft>
              <a:defRPr sz="1300">
                <a:solidFill>
                  <a:srgbClr val="8B949E"/>
                </a:solidFill>
                <a:latin typeface="Consolas"/>
              </a:defRPr>
            </a:pPr>
            <a:r>
              <a:t>  Water, aspirin, glycine, methane, ethane, NH₃, CO</a:t>
            </a:r>
          </a:p>
          <a:p>
            <a:pPr>
              <a:spcAft>
                <a:spcPts val="300"/>
              </a:spcAft>
              <a:defRPr sz="13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300"/>
              </a:spcAft>
              <a:defRPr sz="1300">
                <a:solidFill>
                  <a:srgbClr val="58A6FF"/>
                </a:solidFill>
                <a:latin typeface="Consolas"/>
              </a:defRPr>
            </a:pPr>
            <a:r>
              <a:t># What we found</a:t>
            </a:r>
          </a:p>
          <a:p>
            <a:pPr>
              <a:spcAft>
                <a:spcPts val="300"/>
              </a:spcAft>
              <a:defRPr sz="1300">
                <a:solidFill>
                  <a:srgbClr val="3FB950"/>
                </a:solidFill>
                <a:latin typeface="Consolas"/>
              </a:defRPr>
            </a:pPr>
            <a:r>
              <a:t>  Frequencies: R² &gt; 0.999 across all combos ✓</a:t>
            </a:r>
          </a:p>
          <a:p>
            <a:pPr>
              <a:spcAft>
                <a:spcPts val="300"/>
              </a:spcAft>
              <a:defRPr sz="1300">
                <a:solidFill>
                  <a:srgbClr val="3FB950"/>
                </a:solidFill>
                <a:latin typeface="Consolas"/>
              </a:defRPr>
            </a:pPr>
            <a:r>
              <a:t>  Intensities: mace_ml &gt;&gt; espaloma (0.72 vs 0.52)</a:t>
            </a:r>
          </a:p>
          <a:p>
            <a:pPr>
              <a:spcAft>
                <a:spcPts val="300"/>
              </a:spcAft>
              <a:defRPr sz="1300">
                <a:solidFill>
                  <a:srgbClr val="3FB950"/>
                </a:solidFill>
                <a:latin typeface="Consolas"/>
              </a:defRPr>
            </a:pPr>
            <a:r>
              <a:t>  Speedup scales with molecule size (aspirin: ~18×)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663440" y="1051560"/>
            <a:ext cx="402336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300">
                <a:solidFill>
                  <a:srgbClr val="58A6FF"/>
                </a:solidFill>
                <a:latin typeface="Consolas"/>
              </a:defRPr>
            </a:pPr>
            <a:r>
              <a:t># Still open</a:t>
            </a:r>
          </a:p>
          <a:p>
            <a:pPr>
              <a:spcAft>
                <a:spcPts val="300"/>
              </a:spcAft>
              <a:defRPr sz="13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Anharmonic validation:</a:t>
            </a:r>
          </a:p>
          <a:p>
            <a:pPr>
              <a:spcAft>
                <a:spcPts val="300"/>
              </a:spcAft>
              <a:defRPr sz="1300">
                <a:solidFill>
                  <a:srgbClr val="8B949E"/>
                </a:solidFill>
                <a:latin typeface="Consolas"/>
              </a:defRPr>
            </a:pPr>
            <a:r>
              <a:t>  → VPT2 pipeline runs; accuracy TBD</a:t>
            </a:r>
          </a:p>
          <a:p>
            <a:pPr>
              <a:spcAft>
                <a:spcPts val="300"/>
              </a:spcAft>
              <a:defRPr sz="1300">
                <a:solidFill>
                  <a:srgbClr val="8B949E"/>
                </a:solidFill>
                <a:latin typeface="Consolas"/>
              </a:defRPr>
            </a:pPr>
            <a:r>
              <a:t>  → Overtones + combination bands</a:t>
            </a:r>
          </a:p>
          <a:p>
            <a:pPr>
              <a:spcAft>
                <a:spcPts val="300"/>
              </a:spcAft>
              <a:defRPr sz="13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25-molecule benchmark campaign:</a:t>
            </a:r>
          </a:p>
          <a:p>
            <a:pPr>
              <a:spcAft>
                <a:spcPts val="300"/>
              </a:spcAft>
              <a:defRPr sz="1300">
                <a:solidFill>
                  <a:srgbClr val="8B949E"/>
                </a:solidFill>
                <a:latin typeface="Consolas"/>
              </a:defRPr>
            </a:pPr>
            <a:r>
              <a:t>  → Systematic across functional groups</a:t>
            </a:r>
          </a:p>
          <a:p>
            <a:pPr>
              <a:spcAft>
                <a:spcPts val="300"/>
              </a:spcAft>
              <a:defRPr sz="1300">
                <a:solidFill>
                  <a:srgbClr val="8B949E"/>
                </a:solidFill>
                <a:latin typeface="Consolas"/>
              </a:defRPr>
            </a:pPr>
            <a:r>
              <a:t>  → Batch runner in progress</a:t>
            </a:r>
          </a:p>
          <a:p>
            <a:pPr>
              <a:spcAft>
                <a:spcPts val="300"/>
              </a:spcAft>
              <a:defRPr sz="13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300"/>
              </a:spcAft>
              <a:defRPr sz="1300">
                <a:solidFill>
                  <a:srgbClr val="58A6FF"/>
                </a:solidFill>
                <a:latin typeface="Consolas"/>
              </a:defRPr>
            </a:pPr>
            <a:r>
              <a:t># Thesis question</a:t>
            </a: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Energy surface quality</a:t>
            </a: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vs dipole model quality —</a:t>
            </a: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which dominates IR accuracy?</a:t>
            </a:r>
          </a:p>
          <a:p>
            <a:pPr>
              <a:spcAft>
                <a:spcPts val="300"/>
              </a:spcAft>
              <a:defRPr sz="13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300"/>
              </a:spcAft>
              <a:defRPr sz="1300">
                <a:solidFill>
                  <a:srgbClr val="3FB950"/>
                </a:solidFill>
                <a:latin typeface="Consolas"/>
              </a:defRPr>
            </a:pPr>
            <a:r>
              <a:t>  $ mace-gaussian run molecule.xyz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626364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>
                <a:solidFill>
                  <a:srgbClr val="8B949E"/>
                </a:solidFill>
                <a:latin typeface="Consolas"/>
              </a:defRPr>
            </a:pPr>
            <a:r>
              <a:t>Manuel Ott · Hofer Lab · 2026-03-11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286000"/>
            <a:ext cx="731520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58A6FF"/>
                </a:solidFill>
                <a:latin typeface="Consolas"/>
              </a:defRPr>
            </a:pPr>
            <a:r>
              <a:t>$ ./questions.sh</a:t>
            </a:r>
          </a:p>
          <a:p/>
          <a:p>
            <a:pPr>
              <a:defRPr sz="1800">
                <a:solidFill>
                  <a:srgbClr val="8B949E"/>
                </a:solidFill>
                <a:latin typeface="Consolas"/>
              </a:defRPr>
            </a:pPr>
            <a:r>
              <a:t>// Thank you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626364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>
                <a:solidFill>
                  <a:srgbClr val="8B949E"/>
                </a:solidFill>
                <a:latin typeface="Consolas"/>
              </a:defRPr>
            </a:pPr>
            <a:r>
              <a:t>Manuel Ott · Hofer Lab · 2026-03-11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