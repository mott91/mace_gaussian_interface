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914400"/>
            <a:ext cx="4023360" cy="5120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1500">
                <a:solidFill>
                  <a:srgbClr val="3FB950"/>
                </a:solidFill>
                <a:latin typeface="Consolas"/>
              </a:defRPr>
            </a:pPr>
            <a:r>
              <a:t>  __  __   _   ___ ___    </a:t>
            </a:r>
          </a:p>
          <a:p>
            <a:pPr>
              <a:spcAft>
                <a:spcPts val="0"/>
              </a:spcAft>
              <a:defRPr sz="1500">
                <a:solidFill>
                  <a:srgbClr val="3FB950"/>
                </a:solidFill>
                <a:latin typeface="Consolas"/>
              </a:defRPr>
            </a:pPr>
            <a:r>
              <a:t> |  \/  | /_\ / __| __|   </a:t>
            </a:r>
          </a:p>
          <a:p>
            <a:pPr>
              <a:spcAft>
                <a:spcPts val="0"/>
              </a:spcAft>
              <a:defRPr sz="1500">
                <a:solidFill>
                  <a:srgbClr val="3FB950"/>
                </a:solidFill>
                <a:latin typeface="Consolas"/>
              </a:defRPr>
            </a:pPr>
            <a:r>
              <a:t> | |\/| |/ _ \ (__| _|    </a:t>
            </a:r>
          </a:p>
          <a:p>
            <a:pPr>
              <a:spcAft>
                <a:spcPts val="0"/>
              </a:spcAft>
              <a:defRPr sz="1500">
                <a:solidFill>
                  <a:srgbClr val="3FB950"/>
                </a:solidFill>
                <a:latin typeface="Consolas"/>
              </a:defRPr>
            </a:pPr>
            <a:r>
              <a:t> |_|  |_/_/ \_\___|___|   </a:t>
            </a:r>
          </a:p>
          <a:p>
            <a:pPr>
              <a:spcAft>
                <a:spcPts val="0"/>
              </a:spcAft>
              <a:defRPr sz="1500">
                <a:solidFill>
                  <a:srgbClr val="3FB950"/>
                </a:solidFill>
                <a:latin typeface="Consolas"/>
              </a:defRPr>
            </a:pPr>
            <a:r>
              <a:t>       GAUSSIAN            </a:t>
            </a:r>
          </a:p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                           </a:t>
            </a:r>
          </a:p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  // ML-accelerated        </a:t>
            </a:r>
          </a:p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  // IR spectroscopy       </a:t>
            </a:r>
          </a:p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                           </a:t>
            </a:r>
          </a:p>
          <a:p>
            <a:pPr>
              <a:spcAft>
                <a:spcPts val="0"/>
              </a:spcAft>
              <a:defRPr sz="1500">
                <a:solidFill>
                  <a:srgbClr val="58A6FF"/>
                </a:solidFill>
                <a:latin typeface="Consolas"/>
              </a:defRPr>
            </a:pPr>
            <a:r>
              <a:t>     O                     </a:t>
            </a:r>
          </a:p>
          <a:p>
            <a:pPr>
              <a:spcAft>
                <a:spcPts val="0"/>
              </a:spcAft>
              <a:defRPr sz="1500">
                <a:solidFill>
                  <a:srgbClr val="58A6FF"/>
                </a:solidFill>
                <a:latin typeface="Consolas"/>
              </a:defRPr>
            </a:pPr>
            <a:r>
              <a:t>    / \                    </a:t>
            </a:r>
          </a:p>
          <a:p>
            <a:pPr>
              <a:spcAft>
                <a:spcPts val="0"/>
              </a:spcAft>
              <a:defRPr sz="1500">
                <a:solidFill>
                  <a:srgbClr val="58A6FF"/>
                </a:solidFill>
                <a:latin typeface="Consolas"/>
              </a:defRPr>
            </a:pPr>
            <a:r>
              <a:t>   H   H   H₂O             </a:t>
            </a:r>
          </a:p>
          <a:p>
            <a:pPr>
              <a:spcAft>
                <a:spcPts val="0"/>
              </a:spcAft>
              <a:defRPr sz="1500">
                <a:solidFill>
                  <a:srgbClr val="58A6FF"/>
                </a:solidFill>
                <a:latin typeface="Consolas"/>
              </a:defRPr>
            </a:pPr>
            <a:r>
              <a:t>                           </a:t>
            </a:r>
          </a:p>
          <a:p>
            <a:pPr>
              <a:spcAft>
                <a:spcPts val="0"/>
              </a:spcAft>
              <a:defRPr sz="1500">
                <a:solidFill>
                  <a:srgbClr val="58A6FF"/>
                </a:solidFill>
                <a:latin typeface="Consolas"/>
              </a:defRPr>
            </a:pPr>
            <a:r>
              <a:t>     O   OH                </a:t>
            </a:r>
          </a:p>
          <a:p>
            <a:pPr>
              <a:spcAft>
                <a:spcPts val="0"/>
              </a:spcAft>
              <a:defRPr sz="1500">
                <a:solidFill>
                  <a:srgbClr val="58A6FF"/>
                </a:solidFill>
                <a:latin typeface="Consolas"/>
              </a:defRPr>
            </a:pPr>
            <a:r>
              <a:t>     ‖   |                 </a:t>
            </a:r>
          </a:p>
          <a:p>
            <a:pPr>
              <a:spcAft>
                <a:spcPts val="0"/>
              </a:spcAft>
              <a:defRPr sz="1500">
                <a:solidFill>
                  <a:srgbClr val="58A6FF"/>
                </a:solidFill>
                <a:latin typeface="Consolas"/>
              </a:defRPr>
            </a:pPr>
            <a:r>
              <a:t> CH₃-C-O-C₆H₄-COOH        </a:t>
            </a:r>
          </a:p>
          <a:p>
            <a:pPr>
              <a:spcAft>
                <a:spcPts val="0"/>
              </a:spcAft>
              <a:defRPr sz="1500">
                <a:solidFill>
                  <a:srgbClr val="58A6FF"/>
                </a:solidFill>
                <a:latin typeface="Consolas"/>
              </a:defRPr>
            </a:pPr>
            <a:r>
              <a:t>   aspirin C₉H₈O₄          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480560" y="914400"/>
            <a:ext cx="91440" cy="5120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│</a:t>
            </a:r>
          </a:p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│</a:t>
            </a:r>
          </a:p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│</a:t>
            </a:r>
          </a:p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│</a:t>
            </a:r>
          </a:p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│</a:t>
            </a:r>
          </a:p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│</a:t>
            </a:r>
          </a:p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│</a:t>
            </a:r>
          </a:p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│</a:t>
            </a:r>
          </a:p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│</a:t>
            </a:r>
          </a:p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│</a:t>
            </a:r>
          </a:p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│</a:t>
            </a:r>
          </a:p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│</a:t>
            </a:r>
          </a:p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│</a:t>
            </a:r>
          </a:p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│</a:t>
            </a:r>
          </a:p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│</a:t>
            </a:r>
          </a:p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│</a:t>
            </a:r>
          </a:p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63440" y="914400"/>
            <a:ext cx="4206240" cy="5120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mot@hofer-hpc</a:t>
            </a:r>
          </a:p>
          <a:p>
            <a:pPr>
              <a:spcAft>
                <a:spcPts val="1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────────────────────────────</a:t>
            </a:r>
          </a:p>
          <a:p>
            <a:pPr>
              <a:spcAft>
                <a:spcPts val="1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OS       Hofer Lab · TU München</a:t>
            </a:r>
          </a:p>
          <a:p>
            <a:pPr>
              <a:spcAft>
                <a:spcPts val="1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Shell    zsh + oh-my-zsh</a:t>
            </a:r>
          </a:p>
          <a:p>
            <a:pPr>
              <a:spcAft>
                <a:spcPts val="1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────────────────────────────</a:t>
            </a:r>
          </a:p>
          <a:p>
            <a:pPr>
              <a:spcAft>
                <a:spcPts val="1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Project  mace-gaussian v1.1</a:t>
            </a:r>
          </a:p>
          <a:p>
            <a:pPr>
              <a:spcAft>
                <a:spcPts val="1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Method   VPT2 + ML Dipoles</a:t>
            </a:r>
          </a:p>
          <a:p>
            <a:pPr>
              <a:spcAft>
                <a:spcPts val="1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Engine   Gaussian 16</a:t>
            </a:r>
          </a:p>
          <a:p>
            <a:pPr>
              <a:spcAft>
                <a:spcPts val="1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Bridge   ZMQ (IPC socket)</a:t>
            </a:r>
          </a:p>
          <a:p>
            <a:pPr>
              <a:spcAft>
                <a:spcPts val="1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────────────────────────────</a:t>
            </a:r>
          </a:p>
          <a:p>
            <a:pPr>
              <a:spcAft>
                <a:spcPts val="1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ML       MACE-OMOL-0, MACE-MP</a:t>
            </a:r>
          </a:p>
          <a:p>
            <a:pPr>
              <a:spcAft>
                <a:spcPts val="1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Dipoles  MACE4IR / Espaloma</a:t>
            </a:r>
          </a:p>
          <a:p>
            <a:pPr>
              <a:spcAft>
                <a:spcPts val="1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Combos   4 energy × 2 dipole</a:t>
            </a:r>
          </a:p>
          <a:p>
            <a:pPr>
              <a:spcAft>
                <a:spcPts val="1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────────────────────────────</a:t>
            </a:r>
          </a:p>
          <a:p>
            <a:pPr>
              <a:spcAft>
                <a:spcPts val="1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Tests    131 passing ✓</a:t>
            </a:r>
          </a:p>
          <a:p>
            <a:pPr>
              <a:spcAft>
                <a:spcPts val="1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CI       GitHub Actions ✓</a:t>
            </a:r>
          </a:p>
          <a:p>
            <a:pPr>
              <a:spcAft>
                <a:spcPts val="1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────────────────────────────</a:t>
            </a:r>
          </a:p>
          <a:p>
            <a:pPr>
              <a:spcAft>
                <a:spcPts val="1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▓▓▓▓▓▓▓▓▓▓▓▓▓▓▓▓▓▓▓▓▓▓▓▓▓▓▓▓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motivation.md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Problem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DFT frequency calculations: slow (minutes to hours per molecule)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Anharmonic VPT2: even more expensive — scales as O(N⁴)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Bottleneck for any systematic benchmark campaign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Solution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Hybrid ML-QM: ML computes dipole derivatives in real-time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ZMQ bridge injects results into Gaussian — no modifications needed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10–100× faster than pure DFT for dipole-heavy steps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Impact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Rapid IR predictions across chemical space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Thesis question: energy surface vs dipole model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man ir_spectroscopy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42976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What the software computes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Harmonic approximation: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V(x) ≈ V₀ + ½k·x²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Diagonalise Hessian → normal modes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3N−6 frequencies ωᵢ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Intensities ∝ |Δμ/ΔQ|²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For each displaced geometry: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energy (forces → Hessian)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dipole μ⃗ (intensity)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Gaussian displaces ~hundreds of times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Anharmonic (VPT2): ongoing work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Already running. Overtones + combination bands.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→ Results pending full validation — next direction.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51560"/>
            <a:ext cx="4114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What ML provides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Each displaced geometry → ML query: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[geometry]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    ↓  MACE energy model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E, F, Hessian contribution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[geometry]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    ↓  MACE dipole model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μ⃗ = (μ_x, μ_y, μ_z)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Both injected into Gaussian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via ZMQ bridge — next slide.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IR range: 400–4000 cm⁻¹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1 cm⁻¹ ≈ 0.124 meV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python3 main.py  # system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[molecule.xyz]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↓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┌─────────────────────────────────────────────────────┐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GEOMETRY OPTIMIZER  (MACE-OMOL-0 + ASE)           │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└──────────────┬──────────────────────────────────────┘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↓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┌──────────────┴──────────────┐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DFT BASELINE                │   ┌─────────────────────────────┐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B3LYP/6-31G(d,p)           │   │ ML FREQ CALC                │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Gaussian 16                 │   │ MACE energy + forces        │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freq + dipoles              │   │ MACE dipole model           │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└──────────────┬──────────────┘   │ ZMQ bridge (zmq_server.py) │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│                  │                             │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└──────────────────┤ → fort.7 → Gaussian        │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                   └──────────────┬──────────────┘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                                  ↓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┌──────────────────────────────────────────────────────────────┐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ANALYSIS  eigenvector matching → KDE broadening → HTML      │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└──────────────────────────────────────────────────────────────┘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dipole_methods.md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4389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MACE4IR (direct dipole)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Input: atomic positions + species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     ↓  E(3)-equivariant GNN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Output: μ = (μx, μy, μz)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Equivariant: respects rotations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Trained specifically on dipoles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78-element coverage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Custom MACE4IR model (78 el.)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Fast — single forward pass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Why E(3)-equivariance matters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Dipole is a vector — it must rotate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with the molecule. Standard NNs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don't guarantee this.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63440" y="1051560"/>
            <a:ext cx="4023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Espaloma (charge-based dipole)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Input: molecular graph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     ↓  graph neural network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Output: partial charges q₁…qₙ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     ↓  μ = Σ qᵢ · rᵢ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Output: dipole vector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Physics-based construction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Interpretable (charges visible)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Available as pip package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No custom model needed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Energy calculators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MACE-OMOL-0  molecules, default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MACE-MP-0    universal (130 el.)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MACE-OFF     organic molecules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MACE-ANI     organic H,C,N,O,S,F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zmq_bridge.md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Problem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Gaussian needs dipole derivatives for every displaced geometry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DFT dipoles: expensive. This is the bottleneck.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Solution: ZMQ bridge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Gaussian 'External' keyword calls gm_helper.py per geometry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gm_helper.py sends geometry over ZMQ IPC socket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zmq_server.py receives, queries ML, returns results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How it works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[Gaussian]  → writes geometry → calls gm_helper.py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                       ↓  ZMQ (IPC)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                 zmq_server.py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                       ↓  MACE energy + forces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                       ↓  MACE dipole model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[Gaussian]  ← reads fort.7  ←         ↑  returns results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Why it's non-trivial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Socket cleanup: LINGER=0 + SIGKILL timeout (no orphan processes)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Absolute paths: Gaussian needs full path resolved at CLI startup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Model loading: dipole class remapping via torch.load()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mode_matching.md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Problem: ML and DFT don't output modes in the same order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DFT:  [500, 1200, 1500, 2900, 3100] cm⁻¹</a:t>
            </a:r>
          </a:p>
          <a:p>
            <a:pPr>
              <a:spcAft>
                <a:spcPts val="400"/>
              </a:spcAft>
              <a:defRPr sz="1400">
                <a:solidFill>
                  <a:srgbClr val="D29922"/>
                </a:solidFill>
                <a:latin typeface="Consolas"/>
              </a:defRPr>
            </a:pPr>
            <a:r>
              <a:t>  ML:   [498, 3095, 1205, 2895, 1498] cm⁻¹   ← different order!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Cannot compare by index. Need to identify which mode is which.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Solution: Eigenvector dot product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Each normal mode has an eigenvector: 3N-dimensional displacement pattern.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Modes with the same physical motion will have parallel eigenvectors.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similarity(i, j) = |v_ML[i] · v_DFT[j]|        (0 = orthogonal, 1 = same)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Assign each ML mode to its best-matching DFT mode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Robust to reordering, robust to small frequency errors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Example (water)</a:t>
            </a:r>
          </a:p>
          <a:p>
            <a:pPr>
              <a:spcAft>
                <a:spcPts val="400"/>
              </a:spcAft>
              <a:defRPr sz="1400">
                <a:solidFill>
                  <a:srgbClr val="F85149"/>
                </a:solidFill>
                <a:latin typeface="Consolas"/>
              </a:defRPr>
            </a:pPr>
            <a:r>
              <a:t>  ML 3095 cm⁻¹ → DFT 1200 cm⁻¹  [overlap: 0.027]   ✗ wrong match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ML 3095 cm⁻¹ → DFT 3100 cm⁻¹  [overlap: 0.989]   ✓ correct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ls analysis_results_harmonic/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Spectrum analysis reports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  O                       O   OH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 / \                      ‖   |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H   H   H₂O          CH₃-C-O-C₆H₄-COOH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              aspirin C₉H₈O₄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water/report.html       3 atoms  · 3 modes  · 8 combos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aspirin/report.html    19 atoms  · 51 modes · 4 combos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Each report: regression plots · KDE spectra · mode matching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Open: $ open analysis_results_harmonic/water/report.html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$ open analysis_results_harmonic/aspirin/report.html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analysis_results_harmonic/water/data/metrics_summary.json | sort-by-mae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Harmonic benchmark — water (H₂O, 3 modes)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Ref: B3LYP/6-31G(d,p)   |   sorted by MAE(freq) ascending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Energy model    Dipole      MAE(freq)   R²(freq)    R²(intens)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────────────────────────────────────────────────────────────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mace_anicc      mace_ml       19.0 cm⁻¹   0.9999974   0.72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mace_anicc      espaloma      19.0 cm⁻¹   0.9999974   0.52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mace_off        espaloma      20.7 cm⁻¹   0.9999344   0.52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mace_off        mace_ml       20.7 cm⁻¹   0.9999344   0.72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mace_omol       espaloma      22.7 cm⁻¹   0.9999631   0.52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mace_omol       mace_ml       22.7 cm⁻¹   0.9999631   0.72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mace_mp         mace_ml      106.3 cm⁻¹   0.9999981   0.72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mace_mp         espaloma     106.3 cm⁻¹   0.9999981   0.51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Frequencies: all combos excellent (R² &gt; 0.9999)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Intensities: mace_ml consistently beats espaloma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analysis_results_harmonic/aspirin/data/metrics_summary.json | sort-by-mae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Harmonic benchmark — aspirin (C₉H₈O₄, 51 modes)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Ref: B3LYP/6-31G(d,p)   |   sorted by MAE(freq) ascending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Energy model    Dipole      MAE(freq)   R²(freq)    R²(intens)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────────────────────────────────────────────────────────────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mace_omol       espaloma       8.8 cm⁻¹   0.9998492   0.25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mace_omol       mace_ml        8.8 cm⁻¹   0.9998492   0.46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mace_mp         mace_ml       97.8 cm⁻¹   0.9957866   0.29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mace_mp         espaloma      97.8 cm⁻¹   0.9957866   0.15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mace_omol: best accuracy (MAE &lt; 9 cm⁻¹, R² 0.9998)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mace_mp: most speedup (~29×) but worse accuracy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python benchmark.py --scaling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ML speedup scales with molecule size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Dipole step: ML vs DFT (B3LYP/6-31G(d,p))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molecule      atoms         speedup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──────────────────────────────────────────────────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water       ( 3 atoms)  |=                   |  ~1×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glycine     (10 atoms)  |======              |  ~7–10×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aspirin     (21 atoms)  |====================|  ~18–29×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Water (3 atoms): ML overhead visible — no speedup at this scale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Glycine (10 atoms): ~7–10× — target use case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Aspirin (21 atoms): ~18–29× — strong benefit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Speedup source: DFT dipoles O(N³); ML dipoles O(N)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(estimated ranges — not benchmarked to the second)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git log --oneline --graph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4389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What we built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ZMQ bridge: ML dipoles → Gaussian VPT2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CLI: mace-gaussian run molecule.xyz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4 energy × 2 dipole models = 8 combinations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What we ran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Harmonic benchmark across 8 molecules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Water, aspirin, glycine, methane, ethane, NH₃, CO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What we found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Frequencies: R² &gt; 0.999 across all combos ✓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Intensities: mace_ml &gt;&gt; espaloma (0.72 vs 0.52)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Speedup scales with molecule size (aspirin: ~18×)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63440" y="1051560"/>
            <a:ext cx="4023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Still open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Anharmonic validation: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→ VPT2 pipeline runs; accuracy TBD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→ Overtones + combination bands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25-molecule benchmark campaign: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→ Systematic across functional groups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→ Batch runner in progress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Thesis question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Energy surface quality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vs dipole model quality —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which dominates IR accuracy?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$ mace-gaussian run molecule.xyz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58A6FF"/>
                </a:solidFill>
                <a:latin typeface="Consolas"/>
              </a:defRPr>
            </a:pPr>
            <a:r>
              <a:t>$ ./questions.sh</a:t>
            </a:r>
          </a:p>
          <a:p/>
          <a:p>
            <a:pPr>
              <a:defRPr sz="1800">
                <a:solidFill>
                  <a:srgbClr val="8B949E"/>
                </a:solidFill>
                <a:latin typeface="Consolas"/>
              </a:defRPr>
            </a:pPr>
            <a:r>
              <a:t>// 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