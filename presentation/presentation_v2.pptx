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412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    _|    _|_|      _|_|_|  _|_|_|_|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_|_|  _|_|  _|    _|  _|        _|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_|  _|  _|_|_|_|  _|        _|_|_|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    _|  _|    _|  _|        _|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    _|  _|    _|    _|_|_|  _|_|_|_|  </a:t>
            </a:r>
          </a:p>
          <a:p>
            <a:pPr algn="ctr">
              <a:spcAft>
                <a:spcPts val="0"/>
              </a:spcAft>
              <a:defRPr sz="1600">
                <a:solidFill>
                  <a:srgbClr val="3FB950"/>
                </a:solidFill>
                <a:latin typeface="Consolas"/>
              </a:defRPr>
            </a:pPr>
            <a:r>
              <a:t>              GAUSSIAN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B949E"/>
                </a:solidFill>
                <a:latin typeface="Consolas"/>
              </a:defRPr>
            </a:pPr>
            <a:r>
              <a:t>// ML-accelerated IR spectrum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motivation.md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Problem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DFT frequency calculations: slow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Minutes to hours per molecule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Solution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Hybrid ML-QM approach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ML dipoles and energies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Possibly 10–100× faster than pure DFT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Impact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Accelerate IR spectral predictions while maintaining DFT-level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ir_spectroscopy.md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How IR spectra are computed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Displace each atom in x, y, z  (small nudges around equilibrium)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For each displacement, compute energy + forces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Build Hessian (matrix of force constants) → diagonalise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→ Eigenvalues = frequencies</a:t>
            </a:r>
          </a:p>
          <a:p>
            <a:pPr>
              <a:spcAft>
                <a:spcPts val="400"/>
              </a:spcAft>
              <a:defRPr sz="1400">
                <a:solidFill>
                  <a:srgbClr val="D29922"/>
                </a:solidFill>
                <a:latin typeface="Consolas"/>
              </a:defRPr>
            </a:pPr>
            <a:r>
              <a:t>  → Eigenvectors = normal modes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3N−6 modes for N atoms  (e.g. water: 3 modes)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Where do intensities come from?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Dipole μ⃗ = charge distribution of the molecule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When atoms vibrate, μ⃗ changes → molecule absorbs IR light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Intensity ∝ |∂μ/∂Q|²  (how much dipole changes per mode)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Dipole μ⃗ must also be evaluated at every displaced geometry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The bottleneck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Each displacement requires E, forces F, and dipole μ⃗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DFT: full electronic structure solve per displacement (min–hrs)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→ ML:  single forward pass per displacement (seconds)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python3 workflow.py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                         [molecule.xyz]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                                ▼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┌────────────────────────────────────────────────────────────────────────┐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│  GEOMETRY OPTIMIZER   • load_geometry()  • mace_omol.optimize()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└───────────────────────────────┬────────────────────────────────────────┘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             ┌────────────────┴─────────────────┐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             ▼                                  ▼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┌────────────────────────────────┐  ┌────────────────────────────────────┐</a:t>
            </a:r>
          </a:p>
          <a:p>
            <a:pPr>
              <a:spcAft>
                <a:spcPts val="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│  DFT BASELINE                  │  │  ML FREQ CALC           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┌──────────────────┐          │  │  • load_mace_calculator()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│ Built-in opt     │          │  │    (MACE-MP / MACE-OMOL) 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│ B3LYP/6-31G(d,p)│          │  │  • get_dipole_calculator()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└──────────────────┘          │  │    (Espaloma / MACE4IR)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• gaussian_freq()             │  │  • setup_zmq_server()    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• gaussian_dipoles()          │  │  • launch_gaussian()     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• parse_gaussian()            │  │  • zmq_dipole_loop()     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└──────────────┬─────────────────┘  └──────────────────┬─────────────────┘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             └────────────────┬─────────────────────┘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                              ▼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┌────────────────────────────────────────────────────────────────────────┐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│  ANALYSIS   load_results → eigenvector_matching → kde → metrics → plot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└───────────────────────────────┬────────────────────────────────────────┘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                              ▼</a:t>
            </a:r>
          </a:p>
          <a:p>
            <a:pPr>
              <a:spcAft>
                <a:spcPts val="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                   generate_html_report()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ls -l calculators/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389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# MACE4IR (direct dipole)</a:t>
            </a:r>
          </a:p>
          <a:p>
            <a:pPr>
              <a:spcAft>
                <a:spcPts val="300"/>
              </a:spcAft>
              <a:defRPr sz="13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Input: atomic positions + species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     ↓  E(3)-equivariant GNN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Output: μ = (μx, μy, μz)</a:t>
            </a:r>
          </a:p>
          <a:p>
            <a:pPr>
              <a:spcAft>
                <a:spcPts val="300"/>
              </a:spcAft>
              <a:defRPr sz="13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Equivariant: respects rotations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Trained specifically on dipoles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Custom MACE4IR model (78 elements)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Fast — single forward pass</a:t>
            </a:r>
          </a:p>
          <a:p>
            <a:pPr>
              <a:spcAft>
                <a:spcPts val="300"/>
              </a:spcAft>
              <a:defRPr sz="13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# Why E(3)-equivariance matters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Dipole is a vector — it must rotate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with the molecule. Standard NNs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don't guarantee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# Espaloma (charge-based dipole)</a:t>
            </a:r>
          </a:p>
          <a:p>
            <a:pPr>
              <a:spcAft>
                <a:spcPts val="300"/>
              </a:spcAft>
              <a:defRPr sz="13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Input: molecular graph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     ↓  graph neural network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Output: partial charges q₁…qₙ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     ↓  μ = Σ qᵢ · rᵢ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Output: dipole vector</a:t>
            </a:r>
          </a:p>
          <a:p>
            <a:pPr>
              <a:spcAft>
                <a:spcPts val="300"/>
              </a:spcAft>
              <a:defRPr sz="13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Physics-based construction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Interpretable (charges visible)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Available as pip package</a:t>
            </a:r>
          </a:p>
          <a:p>
            <a:pPr>
              <a:spcAft>
                <a:spcPts val="3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No custom model needed</a:t>
            </a:r>
          </a:p>
          <a:p>
            <a:pPr>
              <a:spcAft>
                <a:spcPts val="300"/>
              </a:spcAft>
              <a:defRPr sz="13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# Energy calculators (PES)</a:t>
            </a:r>
          </a:p>
          <a:p>
            <a:pPr>
              <a:spcAft>
                <a:spcPts val="300"/>
              </a:spcAft>
              <a:defRPr sz="13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FB950"/>
                </a:solidFill>
                <a:latin typeface="Consolas"/>
              </a:defRPr>
            </a:pPr>
            <a:r>
              <a:t>  MACE-OMOL-0   molecules, default</a:t>
            </a:r>
          </a:p>
          <a:p>
            <a:pPr>
              <a:spcAft>
                <a:spcPts val="300"/>
              </a:spcAft>
              <a:defRPr sz="1300">
                <a:solidFill>
                  <a:srgbClr val="3FB950"/>
                </a:solidFill>
                <a:latin typeface="Consolas"/>
              </a:defRPr>
            </a:pPr>
            <a:r>
              <a:t>  MACE-MP-0     universal (130 el.)</a:t>
            </a:r>
          </a:p>
          <a:p>
            <a:pPr>
              <a:spcAft>
                <a:spcPts val="300"/>
              </a:spcAft>
              <a:defRPr sz="1300">
                <a:solidFill>
                  <a:srgbClr val="3FB950"/>
                </a:solidFill>
                <a:latin typeface="Consolas"/>
              </a:defRPr>
            </a:pPr>
            <a:r>
              <a:t>  MACE-OFF      organic molecules</a:t>
            </a:r>
          </a:p>
          <a:p>
            <a:pPr>
              <a:spcAft>
                <a:spcPts val="300"/>
              </a:spcAft>
              <a:defRPr sz="1300">
                <a:solidFill>
                  <a:srgbClr val="3FB950"/>
                </a:solidFill>
                <a:latin typeface="Consolas"/>
              </a:defRPr>
            </a:pPr>
            <a:r>
              <a:t>  MACE-ANI-CC   organic (CC training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4 energy × 2 dipole = 8 combinations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zmq_bridge.md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58A6FF"/>
                </a:solidFill>
                <a:latin typeface="Consolas"/>
              </a:defRPr>
            </a:pPr>
            <a:r>
              <a:t># Gaussian needs E, F, μ⃗ at every displaced geometry — how do we inject ML?</a:t>
            </a:r>
          </a:p>
          <a:p>
            <a:pPr>
              <a:spcAft>
                <a:spcPts val="2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Gaussian 'External' keyword: calls an external script per displacement</a:t>
            </a:r>
          </a:p>
          <a:p>
            <a:pPr>
              <a:spcAft>
                <a:spcPts val="2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  → We intercept this with a ZMQ bridge — no Gaussian modifications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┌─────────────────────┐                    ┌─────────────────────────────┐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                   │  input file        │                             │</a:t>
            </a:r>
          </a:p>
          <a:p>
            <a:pPr>
              <a:spcAft>
                <a:spcPts val="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│    GAUSSIAN 16      │  (geometry #n)     │     gm_helper.py 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                   │ ──────────────────→│     (External script)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freq=anharmonic    │                    │  sends filenames via ZMQ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external='...'     │                    └─────────────────────────────┘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                   │                            ZMQ ▼ ▲ 'done'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Displaces molecule │                    ┌─────────────────────────────┐</a:t>
            </a:r>
          </a:p>
          <a:p>
            <a:pPr>
              <a:spcAft>
                <a:spcPts val="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│  along each coord   │                    │     zmq_server.py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and calls external │                    │                  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script each time   │                    │  reads geometry from file   │</a:t>
            </a:r>
          </a:p>
          <a:p>
            <a:pPr>
              <a:spcAft>
                <a:spcPts val="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│                     │                    │  MACE energy calc → E, F   │</a:t>
            </a:r>
          </a:p>
          <a:p>
            <a:pPr>
              <a:spcAft>
                <a:spcPts val="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│  reads fort.7 when  │     fort.7         │  MACE dipole calc → μ⃗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│  helper exits       │ ←──────────────────│  writes results to fort.7  │</a:t>
            </a:r>
          </a:p>
          <a:p>
            <a:pPr>
              <a:spcAft>
                <a:spcPts val="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│                     │   E, F, μ⃗          │                             │</a:t>
            </a:r>
          </a:p>
          <a:p>
            <a:pPr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└─────────────────────┘                    └─────────────────────────────┘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C9D1D9"/>
                </a:solidFill>
                <a:latin typeface="Consolas"/>
              </a:defRPr>
            </a:pPr>
            <a:r>
              <a:t>↻ repeats for every displacement (hundreds per molecule)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mode_matching.md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Problem: ML and DFT modes can be in different order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DFT:  [1595, 1610, 2900, 3050, 3100] cm⁻¹</a:t>
            </a:r>
          </a:p>
          <a:p>
            <a:pPr>
              <a:spcAft>
                <a:spcPts val="400"/>
              </a:spcAft>
              <a:defRPr sz="1400">
                <a:solidFill>
                  <a:srgbClr val="D29922"/>
                </a:solidFill>
                <a:latin typeface="Consolas"/>
              </a:defRPr>
            </a:pPr>
            <a:r>
              <a:t>  ML:   [1608, 1590, 2905, 3048, 3102] cm⁻¹   ← modes 1 &amp; 2 swapped!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1595 and 1610 are close but physically different modes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Solution: Eigenvector dot product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Each mode = eigenvector of the Hessian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Same physical motion → parallel eigenvectors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D29922"/>
                </a:solidFill>
                <a:latin typeface="Consolas"/>
              </a:defRPr>
            </a:pPr>
            <a:r>
              <a:t>              similarity(i, j) = |v_ML[i] · v_DFT[j]|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          (0 = orthogonal, 1 = identical motion)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Match by motion, not by frequency or index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Example</a:t>
            </a:r>
          </a:p>
          <a:p>
            <a:pPr>
              <a:spcAft>
                <a:spcPts val="400"/>
              </a:spcAft>
              <a:defRPr sz="1400">
                <a:solidFill>
                  <a:srgbClr val="F85149"/>
                </a:solidFill>
                <a:latin typeface="Consolas"/>
              </a:defRPr>
            </a:pPr>
            <a:r>
              <a:t>  ML 1608 cm⁻¹ → DFT 1595 cm⁻¹  [overlap: 0.12]   ✗ closest freq, wrong mode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ML 1608 cm⁻¹ → DFT 1610 cm⁻¹  [overlap: 0.97]   ✓ correct — same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ls analysis_results_harmonic/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  O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 / \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H   H   H₂O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→ water/report.html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O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‖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C-O-C₆H₄-COOH   aspirin C₉H₈O₄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|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 CH₃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→ aspirin/report.html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metrics.json | sort-by-mae  # water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Harmonic benchmark — water (H₂O, 3 modes)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Ref: B3LYP/6-31G(d,p)   |   sorted by MAE ascending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Energy        Dipole      MAE(freq)   R²(freq)  R²(int)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mace_anicc      MACE4IR       19.0 cm⁻¹   1.0000   0.72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mace_anicc      espaloma      19.0 cm⁻¹   1.0000   0.52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mace_off        espaloma      20.7 cm⁻¹   0.9999   0.52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mace_off        MACE4IR       20.7 cm⁻¹   0.9999   0.72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mace_omol       espaloma      22.7 cm⁻¹   1.0000   0.52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mace_omol       MACE4IR       22.7 cm⁻¹   1.0000   0.72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mace_mp         MACE4IR      106.3 cm⁻¹   1.0000   0.72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mace_mp         espaloma     106.3 cm⁻¹   1.0000   0.51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D29922"/>
                </a:solidFill>
                <a:latin typeface="Consolas"/>
              </a:defRPr>
            </a:pPr>
            <a:r>
              <a:t>  ⚠ R² misleading: only 3 data points — any line fits well</a:t>
            </a:r>
          </a:p>
          <a:p>
            <a:pPr>
              <a:spcAft>
                <a:spcPts val="400"/>
              </a:spcAft>
              <a:defRPr sz="1400">
                <a:solidFill>
                  <a:srgbClr val="D29922"/>
                </a:solidFill>
                <a:latin typeface="Consolas"/>
              </a:defRPr>
            </a:pPr>
            <a:r>
              <a:t>    MACE-MP has best R² despite 106 cm⁻¹ MAE (systematic shift)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MAE is the reliable metric here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MACE4IR consistently beats Espaloma on intensities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metrics.json | sort-by-mae  # aspirin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Harmonic benchmark — aspirin (C₉H₈O₄, 57 modes)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Ref: B3LYP/6-31G(d,p)   |   sorted by MAE ascending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Energy        Dipole      MAE(freq)   R²(freq)  R²(int)  Speedup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mace_anicc      MACE4IR        7.6 cm⁻¹   0.9999   0.94     35.8×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mace_anicc      espaloma       7.6 cm⁻¹   0.9999   0.25     39.4×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mace_omol       espaloma       8.8 cm⁻¹   0.9998   0.25     21.6×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mace_omol       MACE4IR        8.8 cm⁻¹   0.9998   0.96     20.5×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mace_off        espaloma      11.8 cm⁻¹   0.9998   0.26     19.8×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mace_off        MACE4IR       11.8 cm⁻¹   0.9998   0.95     18.8×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mace_mp         MACE4IR       97.8 cm⁻¹   0.9958   0.56     32.1×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mace_mp         espaloma      97.8 cm⁻¹   0.9958   0.15     34.9×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MACE-ANI-CC: best accuracy (7.6 cm⁻¹), trained on coupled cluster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MACE4IR dipole: R²(int) 0.94–0.96 vs Espaloma 0.15–0.26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python benchmark.py --scaling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ML speedup — best-accuracy combo per molecule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Includes full anharmonic VPT2 calculation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molecule    atoms    best combo                  speedup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  water        3      mace_anicc / MACE4IR         |=           |   1.2×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aspirin     21      mace_anicc / MACE4IR         |============|  35.8×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Water too small for ML to outpace DFT overhead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Aspirin: 21 atoms × 3 dirs × 2 = 126 displacements → ML faster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git log --oneline --graph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What we built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ZMQ bridge: ML dipoles → Gaussian VPT2 (harmonic + anharmonic)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4 energy × 2 dipole models = 8 calculator combinations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Preliminary results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→ Frequencies: R² &gt; 0.999 for best combos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→ Intensities: MACE4IR &gt;&gt; Espaloma</a:t>
            </a:r>
          </a:p>
          <a:p>
            <a:pPr>
              <a:spcAft>
                <a:spcPts val="4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→ Speedup: ~36× on aspirin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Next steps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Systematic benchmark campaign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Growing size: CH₄ → C₂H₆ → C₃H₈ → C₄H₁₀ (scaling)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Molecules with more exotic atoms: S, P, halogens, metals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Larger systems: peptides, drug-like molecules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Batch processing: HPC queue integration for large campaigns</a:t>
            </a:r>
          </a:p>
          <a:p>
            <a:pPr>
              <a:spcAft>
                <a:spcPts val="4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ORCA integration: open-source QM engine as Gaussian alternative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8A6FF"/>
                </a:solidFill>
                <a:latin typeface="Consolas"/>
              </a:defRPr>
            </a:pPr>
            <a:r>
              <a:t>$ ./questions.sh</a:t>
            </a:r>
          </a:p>
          <a:p/>
          <a:p>
            <a:pPr>
              <a:defRPr sz="1800">
                <a:solidFill>
                  <a:srgbClr val="8B949E"/>
                </a:solidFill>
                <a:latin typeface="Consolas"/>
              </a:defRPr>
            </a:pPr>
            <a:r>
              <a:t>//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263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49E"/>
                </a:solidFill>
                <a:latin typeface="Consola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