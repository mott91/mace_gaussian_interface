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841248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  _|_|  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_|_|  _|_|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_|  _|  _|_|_|_|  _|        _|_|_|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3FB950"/>
                </a:solidFill>
                <a:latin typeface="Consolas"/>
              </a:defRPr>
            </a:pPr>
            <a:r>
              <a:t>              GAUSSIAN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B949E"/>
                </a:solidFill>
                <a:latin typeface="Consolas"/>
              </a:defRPr>
            </a:pPr>
            <a:r>
              <a:t>// ML-accelerated IR spectrum calculations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motivation.md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frequency calculations: slow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Bottleneck for systematic benchmark campaigns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Hybrid ML-QM approach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ML dipoles and energies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Possibly 10–100× faster than pure DFT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Impact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Enable rapid IR spectral predictions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Maintain DFT-level accuracy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Systematic comparison: energy surface vs dipole model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ir_spectroscopy.md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How IR spectra are computed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Displace each atom in x, y, z  (small nudges around equilibrium)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For each displacement, compute energy + forces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Build Hessian (matrix of force constants) → diagonalise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Eigenvalues = frequencies, eigenvectors = normal modes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3N−6 modes for N atoms  (e.g. water: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Where do intensities come from?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Dipole μ⃗ = charge distribution of the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When atoms vibrate, μ⃗ changes → molecule absorbs IR light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Intensity ∝ |∂μ/∂Q|²  (how much dipole changes per mode)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So we also need μ⃗ at every displaced geometry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The bottleneck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Gaussian displaces the molecule hundreds of times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Each time: needs energy E, forces F, and dipole μ⃗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With DFT: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With ML:  seconds  ← this is what we replace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python3 workflow.py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" y="1051560"/>
            <a:ext cx="89611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      [molecule.xyz]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▼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 algn="ctr"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GEOMETRY OPTIMIZER   • load_geometry()  • mace_omol.optimize()        │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┌────────────────┴─────────────────┐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▼                                  ▼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┌────────────────────────────────┐  ┌────────────────────────────────────┐</a:t>
            </a:r>
          </a:p>
          <a:p>
            <a:pPr algn="ctr"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DFT BASELINE                  │  │  ML FREQ CALC                      │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┌──────────────────┐          │  │  • load_mace_calculator()           │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Built-in opt     │          │  │    (MACE-MP / MACE-OMOL)            │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B3LYP/6-31G(d,p)│          │  │  • get_dipole_calculator()           │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└──────────────────┘          │  │    (Espaloma / MACE_DIPOLE)          │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gaussian_freq()             │  │  • setup_zmq_server()               │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gaussian_dipoles()          │  │  • launch_gaussian()                │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parse_gaussian()            │  │  • zmq_dipole_loop()                │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└──────────────┬─────────────────┘  └──────────────────┬─────────────────┘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└────────────────┬─────────────────────┘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 algn="ctr"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ANALYSIS   load_results → eigenvector_matching → kde → metrics → plot │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 algn="ctr"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generate_html_report()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-l calculators/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MACE4IR (direct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atomic positions + species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E(3)-equivariant GNN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μ = (μx, μy, μz)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Equivariant: respects rotations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Trained specifically on dipoles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78-element coverage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Custom MACE4IR model (78 el.)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Fast — single forward pass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Why E(3)-equivariance matters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Dipole is a vector — it must rotate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with the molecule. Standard NNs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don't guarantee this.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Espaloma (charge-based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molecular graph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graph neural network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partial charges q₁…qₙ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μ = Σ qᵢ · rᵢ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dipole vector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Physics-based construction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Interpretable (charges visible)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Available as pip package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No custom model needed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Energy calculators (PES)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MACE-OMOL-0   molecules, default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MACE-MP-0     universal (130 el.)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MACE-OFF      organic molecules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MACE-ANI-CC   organic (CC training data)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4 energy × 2 dipole = 8 combos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zmq_bridge.md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Gaussian needs E, F, μ⃗ at every displaced geometry — how do we inject ML?</a:t>
            </a:r>
          </a:p>
          <a:p>
            <a:pPr>
              <a:spcAft>
                <a:spcPts val="2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Gaussian 'External' keyword: calls an external script per displacement</a:t>
            </a:r>
          </a:p>
          <a:p>
            <a:pPr>
              <a:spcAft>
                <a:spcPts val="2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We intercept this with a ZMQ bridge — no Gaussian modifications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" y="2560320"/>
            <a:ext cx="896112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┌─────────────────────┐                    ┌─────────────────────────────┐</a:t>
            </a:r>
          </a:p>
          <a:p>
            <a:pPr algn="ctr"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│                     │   displacement #n  │                             │</a:t>
            </a:r>
          </a:p>
          <a:p>
            <a:pPr algn="ctr">
              <a:spcAft>
                <a:spcPts val="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  │    GAUSSIAN 16      │ ──────────────────→│     gm_helper.py            │</a:t>
            </a:r>
          </a:p>
          <a:p>
            <a:pPr algn="ctr"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│     (External script)        │</a:t>
            </a:r>
          </a:p>
          <a:p>
            <a:pPr algn="ctr"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│    freq=anharmonic  │                    └──────────────┬──────────────┘</a:t>
            </a:r>
          </a:p>
          <a:p>
            <a:pPr algn="ctr"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│    external='...'   │                                   │ ZMQ IPC</a:t>
            </a:r>
          </a:p>
          <a:p>
            <a:pPr algn="ctr"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               ▼</a:t>
            </a:r>
          </a:p>
          <a:p>
            <a:pPr algn="ctr"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┌─────────────────────────────┐</a:t>
            </a:r>
          </a:p>
          <a:p>
            <a:pPr algn="ctr">
              <a:spcAft>
                <a:spcPts val="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  │                     │                    │     zmq_server.py           │</a:t>
            </a:r>
          </a:p>
          <a:p>
            <a:pPr algn="ctr"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│                             │</a:t>
            </a:r>
          </a:p>
          <a:p>
            <a:pPr algn="ctr">
              <a:spcAft>
                <a:spcPts val="0"/>
              </a:spcAft>
              <a:defRPr sz="1100">
                <a:solidFill>
                  <a:srgbClr val="3FB950"/>
                </a:solidFill>
                <a:latin typeface="Consolas"/>
              </a:defRPr>
            </a:pPr>
            <a:r>
              <a:t>  │                     │     fort.7         │  ┌─ MACE energy → E, F     │</a:t>
            </a:r>
          </a:p>
          <a:p>
            <a:pPr algn="ctr">
              <a:spcAft>
                <a:spcPts val="0"/>
              </a:spcAft>
              <a:defRPr sz="1100">
                <a:solidFill>
                  <a:srgbClr val="3FB950"/>
                </a:solidFill>
                <a:latin typeface="Consolas"/>
              </a:defRPr>
            </a:pPr>
            <a:r>
              <a:t>  │                     │ ←──────────────────│  └─ MACE dipole → μ⃗        │</a:t>
            </a:r>
          </a:p>
          <a:p>
            <a:pPr algn="ctr"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│                     │   E, F, μ⃗          │                             │</a:t>
            </a:r>
          </a:p>
          <a:p>
            <a:pPr algn="ctr"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└─────────────────────┘                    └─────────────────────────────┘</a:t>
            </a:r>
          </a:p>
          <a:p>
            <a:pPr algn="ctr">
              <a:spcAft>
                <a:spcPts val="0"/>
              </a:spcAft>
              <a:defRPr sz="1100">
                <a:solidFill>
                  <a:srgbClr val="8B949E"/>
                </a:solidFill>
                <a:latin typeface="Consolas"/>
              </a:defRPr>
            </a:pPr>
          </a:p>
          <a:p>
            <a:pPr algn="ctr">
              <a:spcAft>
                <a:spcPts val="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↻ repeats for every displacement (hundreds per molecule)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mode_matching.md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Problem: ML and DFT don't output modes in the same order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DFT:  [500, 1200, 1500, 2900, 3100] cm⁻¹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ML:   [498, 3095, 1205, 2895, 1498] cm⁻¹   ← different order!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Cannot compare by index. Need to identify which mode is which.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Eigenvector dot product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normal mode has an eigenvector: 3N-dimensional displacement pattern.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Modes with the same physical motion will have parallel eigenvectors.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similarity(i, j) = |v_ML[i] · v_DFT[j]|        (0 = orthogonal, 1 = same)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Assign each ML mode to its best-matching DFT mode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Robust to reordering, robust to small frequency errors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Example (water)</a:t>
            </a:r>
          </a:p>
          <a:p>
            <a:pPr>
              <a:spcAft>
                <a:spcPts val="400"/>
              </a:spcAft>
              <a:defRPr sz="1400">
                <a:solidFill>
                  <a:srgbClr val="F85149"/>
                </a:solidFill>
                <a:latin typeface="Consolas"/>
              </a:defRPr>
            </a:pPr>
            <a:r>
              <a:t>  ML 3095 cm⁻¹ → DFT 1200 cm⁻¹  [overlap: 0.027]   ✗ wrong match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ML 3095 cm⁻¹ → DFT 3100 cm⁻¹  [overlap: 0.989]   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analysis_results_harmonic/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Spectrum analysis reports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O                       O   OH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/ \                      ‖   |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H   H   H₂O          CH₃-C-O-C₆H₄-COOH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aspirin C₉H₈O₄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water/report.html       3 atoms  · 3 modes  · 8 combos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aspirin/report.html    19 atoms  · 51 modes · 4 combos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report: regression plots · KDE spectra · mode matching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Open: $ open analysis_results_harmonic/water/report.html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$ open analysis_results_harmonic/aspirin/report.html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analysis_results_harmonic/water/data/metrics_summary.json | sort-by-mae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water (H₂O,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MAE(freq)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model    Dipole      MAE(freq)   R²(freq)    R²(intens)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mace_anicc      mace_ml       19.0 cm⁻¹   0.9999974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mace_anicc      espaloma      19.0 cm⁻¹   0.9999974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20.7 cm⁻¹   0.9999344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mace_ml       20.7 cm⁻¹   0.9999344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22.7 cm⁻¹   0.9999631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22.7 cm⁻¹   0.9999631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106.3 cm⁻¹   0.9999981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106.3 cm⁻¹   0.9999981   0.51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Frequencies: all combos excellent (R² &gt; 0.9999)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Intensities: mace_ml consistently beats espaloma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analysis_results_harmonic/aspirin/data/metrics_summary.json | sort-by-mae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aspirin (C₉H₈O₄, 51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MAE(freq)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model    Dipole      MAE(freq)   R²(freq)    R²(intens)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 8.8 cm⁻¹   0.9998492   0.25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 8.8 cm⁻¹   0.9998492   0.46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 97.8 cm⁻¹   0.9957866   0.29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 97.8 cm⁻¹   0.9957866   0.15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mace_omol: best accuracy (MAE &lt; 9 cm⁻¹, R² 0.9998)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mace_mp: most speedup (~29×) but worse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 benchmark.py --scaling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ML speedup scales with molecule size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Dipole step: ML vs DFT (B3LYP/6-31G(d,p))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molecule      atoms       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water       ( 3 atoms)  |=                   |  ~1×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glycine     (10 atoms)  |======              |  ~7–10×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aspirin     (21 atoms)  |====================|  ~18–29×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Water (3 atoms): ML overhead visible — no speedup at this scale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Glycine (10 atoms): ~7–10× — target use case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Aspirin (21 atoms): ~18–29× — strong benefit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Speedup source: DFT dipoles O(N³); ML dipoles O(N)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(estimated ranges — not benchmarked to the second)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git log --oneline --graph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built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ZMQ bridge: ML dipoles → Gaussian VPT2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CLI: mace-gaussian run molecule.xyz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4 energy × 2 dipole models = 8 combinations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ran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Harmonic benchmark across 8 molecules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Water, aspirin, glycine, methane, ethane, NH₃, CO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found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Frequencies: R² &gt; 0.999 across all combos ✓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Intensities: mace_ml &gt;&gt; espaloma (0.72 vs 0.52)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Speedup scales with molecule size (aspirin: ~18×)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Still open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Anharmonic validation: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VPT2 pipeline runs; accuracy TBD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Overtones + combination bands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25-molecule benchmark campaign: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Systematic across functional groups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Batch runner in progress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Thesis question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Energy surface quality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vs dipole model quality —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which dominates IR accuracy?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$ mace-gaussian run molecule.xyz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Consolas"/>
              </a:defRPr>
            </a:pPr>
            <a:r>
              <a:t>$ ./questions.sh</a:t>
            </a:r>
          </a:p>
          <a:p/>
          <a:p>
            <a:pPr>
              <a:defRPr sz="1800">
                <a:solidFill>
                  <a:srgbClr val="8B949E"/>
                </a:solidFill>
                <a:latin typeface="Consolas"/>
              </a:defRPr>
            </a:pPr>
            <a:r>
              <a:t>//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