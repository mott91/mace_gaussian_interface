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  <p:sldId id="273" r:id="rId7"/>
    <p:sldId id="271" r:id="rId8"/>
    <p:sldId id="270" r:id="rId9"/>
    <p:sldId id="262" r:id="rId10"/>
    <p:sldId id="266" r:id="rId11"/>
    <p:sldId id="272" r:id="rId12"/>
    <p:sldId id="261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65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manu/Desktop/report.htm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44791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 ./</a:t>
            </a:r>
            <a:r>
              <a:rPr dirty="0" err="1"/>
              <a:t>presentation.sh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  <a:latin typeface="Consolas"/>
              </a:defRPr>
            </a:pPr>
            <a:r>
              <a:rPr dirty="0"/>
              <a:t>// ML-accelerated IR spectroscopy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 cat </a:t>
            </a:r>
            <a:r>
              <a:rPr dirty="0" err="1"/>
              <a:t>motivation.md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259499" cy="35240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Problem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DFT frequency calculations: slow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Minutes to hours per molecule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Solution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Hybrid ML-QM approach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ML dipole</a:t>
            </a:r>
            <a:r>
              <a:rPr lang="de-AT" dirty="0"/>
              <a:t>s and </a:t>
            </a:r>
            <a:r>
              <a:rPr lang="de-AT" dirty="0" err="1"/>
              <a:t>energies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de-AT" dirty="0"/>
              <a:t>  </a:t>
            </a:r>
            <a:r>
              <a:rPr dirty="0"/>
              <a:t>→ </a:t>
            </a:r>
            <a:r>
              <a:rPr lang="de-AT" dirty="0" err="1"/>
              <a:t>Possibly</a:t>
            </a:r>
            <a:r>
              <a:rPr lang="de-AT" dirty="0"/>
              <a:t> </a:t>
            </a:r>
            <a:r>
              <a:rPr dirty="0"/>
              <a:t>10-100× faster than pure DFT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Impact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Enable rapid IR spectral predictions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Maintain DFT-level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536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 </a:t>
            </a:r>
            <a:r>
              <a:rPr lang="de-AT" dirty="0"/>
              <a:t>python3 </a:t>
            </a:r>
            <a:r>
              <a:rPr lang="de-AT" dirty="0" err="1"/>
              <a:t>main.py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21823"/>
            <a:ext cx="227177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System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3A476-177E-4D20-FBD2-E6483E102F65}"/>
              </a:ext>
            </a:extLst>
          </p:cNvPr>
          <p:cNvSpPr txBox="1"/>
          <p:nvPr/>
        </p:nvSpPr>
        <p:spPr>
          <a:xfrm>
            <a:off x="2147776" y="1173063"/>
            <a:ext cx="579474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7AB5A"/>
                </a:solidFill>
                <a:latin typeface="Consolas"/>
              </a:defRPr>
            </a:pPr>
            <a:r>
              <a:rPr dirty="0"/>
              <a:t>                                  [</a:t>
            </a:r>
            <a:r>
              <a:rPr dirty="0" err="1"/>
              <a:t>molecule.xyz</a:t>
            </a:r>
            <a:r>
              <a:rPr dirty="0"/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      ┌─────────────────────────────────▼─────────────────────────────────────┐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      │ GEOMETRY OPTIMIZER            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│ ────────────────────────────────────────────────────────────────────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      │ • </a:t>
            </a:r>
            <a:r>
              <a:rPr dirty="0" err="1"/>
              <a:t>load_geometry</a:t>
            </a:r>
            <a:r>
              <a:rPr dirty="0"/>
              <a:t>()  • </a:t>
            </a:r>
            <a:r>
              <a:rPr dirty="0" err="1"/>
              <a:t>mace_omol.optimize</a:t>
            </a:r>
            <a:r>
              <a:rPr dirty="0"/>
              <a:t>()  •</a:t>
            </a:r>
            <a:r>
              <a:rPr lang="de-AT" dirty="0"/>
              <a:t> </a:t>
            </a:r>
            <a:r>
              <a:rPr lang="de-AT" dirty="0" err="1"/>
              <a:t>ase_to_gjf</a:t>
            </a:r>
            <a:r>
              <a:rPr dirty="0"/>
              <a:t>()</a:t>
            </a:r>
            <a:r>
              <a:rPr lang="de-AT" dirty="0"/>
              <a:t>    </a:t>
            </a:r>
            <a:r>
              <a:rPr dirty="0"/>
              <a:t>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      └─────────────────────────┬─────────────────────────────────────────────┘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┌─────────────────┴─────────────────┐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│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┌─────────────▼───────────┐     ┌─────────────────▼────────────────────────┐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│ DFT BASELINE            │     │ ML FREQ CALC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──────────────────────  │     │ ────────────────────────────────────────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   ╭─────────────────╮  │     │ • </a:t>
            </a:r>
            <a:r>
              <a:rPr dirty="0" err="1"/>
              <a:t>load_mace_calculator</a:t>
            </a:r>
            <a:r>
              <a:rPr dirty="0"/>
              <a:t>()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   │ Built-in opt    │  │     │   (MACE-MP/MACE-OMOL)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   │ B3LYP/6-31G(</a:t>
            </a:r>
            <a:r>
              <a:rPr dirty="0" err="1"/>
              <a:t>d,p</a:t>
            </a:r>
            <a:r>
              <a:rPr dirty="0"/>
              <a:t>)│  │     │ • </a:t>
            </a:r>
            <a:r>
              <a:rPr dirty="0" err="1"/>
              <a:t>get_dipole_calculator</a:t>
            </a:r>
            <a:r>
              <a:rPr dirty="0"/>
              <a:t>()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   ╰────────┬────────╯  │     │   (</a:t>
            </a:r>
            <a:r>
              <a:rPr dirty="0" err="1"/>
              <a:t>Espaloma</a:t>
            </a:r>
            <a:r>
              <a:rPr dirty="0"/>
              <a:t>/MACE</a:t>
            </a:r>
            <a:r>
              <a:rPr lang="de-AT" dirty="0"/>
              <a:t>_DIPOLE</a:t>
            </a:r>
            <a:r>
              <a:rPr dirty="0"/>
              <a:t>)            </a:t>
            </a:r>
            <a:r>
              <a:rPr lang="de-AT" dirty="0"/>
              <a:t>    </a:t>
            </a:r>
            <a:r>
              <a:rPr dirty="0"/>
              <a:t>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            ▼           │     │ • </a:t>
            </a:r>
            <a:r>
              <a:rPr dirty="0" err="1"/>
              <a:t>setup_zmq_server</a:t>
            </a:r>
            <a:r>
              <a:rPr dirty="0"/>
              <a:t>()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• </a:t>
            </a:r>
            <a:r>
              <a:rPr dirty="0" err="1"/>
              <a:t>gaussian_freq</a:t>
            </a:r>
            <a:r>
              <a:rPr dirty="0"/>
              <a:t>()       │     │ • </a:t>
            </a:r>
            <a:r>
              <a:rPr dirty="0" err="1"/>
              <a:t>launch_gaussian</a:t>
            </a:r>
            <a:r>
              <a:rPr dirty="0"/>
              <a:t>()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• </a:t>
            </a:r>
            <a:r>
              <a:rPr lang="de-AT" dirty="0" err="1"/>
              <a:t>gaussian_dipoles</a:t>
            </a:r>
            <a:r>
              <a:rPr lang="de-AT" dirty="0"/>
              <a:t>()    </a:t>
            </a:r>
            <a:r>
              <a:rPr dirty="0"/>
              <a:t>│     │ • </a:t>
            </a:r>
            <a:r>
              <a:rPr dirty="0" err="1"/>
              <a:t>zmq_dipole_loop</a:t>
            </a:r>
            <a:r>
              <a:rPr dirty="0"/>
              <a:t>()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• </a:t>
            </a:r>
            <a:r>
              <a:rPr lang="de-AT" dirty="0" err="1"/>
              <a:t>parse_gaussian</a:t>
            </a:r>
            <a:r>
              <a:rPr lang="de-AT" dirty="0"/>
              <a:t>()</a:t>
            </a:r>
            <a:r>
              <a:rPr dirty="0"/>
              <a:t>  </a:t>
            </a:r>
            <a:r>
              <a:rPr lang="de-AT" dirty="0"/>
              <a:t>   </a:t>
            </a:r>
            <a:r>
              <a:rPr dirty="0"/>
              <a:t> │     </a:t>
            </a:r>
            <a:r>
              <a:rPr lang="de-AT" dirty="0"/>
              <a:t>|</a:t>
            </a:r>
            <a:r>
              <a:rPr dirty="0"/>
              <a:t>                                   </a:t>
            </a:r>
            <a:r>
              <a:rPr lang="de-AT" dirty="0"/>
              <a:t>     </a:t>
            </a:r>
            <a:r>
              <a:rPr dirty="0"/>
              <a:t>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└─────────────┬───────────┘     └──────────────┬───────────────────────────┘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│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└────────────────┬───────────────┘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               </a:t>
            </a:r>
            <a:r>
              <a:rPr lang="en-US" dirty="0"/>
              <a:t>  │</a:t>
            </a:r>
            <a:endParaRPr dirty="0"/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┌──────────────────────────────▼────────────────────────────────────────────────────────</a:t>
            </a:r>
            <a:r>
              <a:rPr lang="en-US" dirty="0"/>
              <a:t>───</a:t>
            </a:r>
            <a:r>
              <a:rPr dirty="0"/>
              <a:t>──</a:t>
            </a:r>
            <a:r>
              <a:rPr lang="en-US" dirty="0"/>
              <a:t>────</a:t>
            </a:r>
            <a:r>
              <a:rPr dirty="0"/>
              <a:t>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│ ANALYSIS &amp; COMPARISON                                                                     </a:t>
            </a:r>
            <a:r>
              <a:rPr lang="de-AT" dirty="0"/>
              <a:t>      </a:t>
            </a:r>
            <a:r>
              <a:rPr dirty="0"/>
              <a:t>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───────────────────────────────────────────────────────────────────────────────────────── </a:t>
            </a:r>
            <a:r>
              <a:rPr lang="de-AT" dirty="0"/>
              <a:t>      </a:t>
            </a:r>
            <a:r>
              <a:rPr dirty="0"/>
              <a:t>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│  ┌───────</a:t>
            </a:r>
            <a:r>
              <a:rPr lang="en-US" dirty="0"/>
              <a:t>───</a:t>
            </a:r>
            <a:r>
              <a:rPr dirty="0"/>
              <a:t>─┐  ┌───────────┐  ┌────────────</a:t>
            </a:r>
            <a:r>
              <a:rPr lang="en-US" dirty="0"/>
              <a:t>─</a:t>
            </a:r>
            <a:r>
              <a:rPr dirty="0"/>
              <a:t>─┐  ┌───────────┐  ┌────────────┐  ┌──────────</a:t>
            </a:r>
            <a:r>
              <a:rPr lang="en-US" dirty="0"/>
              <a:t>───</a:t>
            </a:r>
            <a:r>
              <a:rPr dirty="0"/>
              <a:t>┐</a:t>
            </a:r>
            <a:r>
              <a:rPr lang="de-AT" dirty="0"/>
              <a:t> </a:t>
            </a:r>
            <a:r>
              <a:rPr dirty="0"/>
              <a:t>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│  │ </a:t>
            </a:r>
            <a:r>
              <a:rPr dirty="0" err="1"/>
              <a:t>load_all</a:t>
            </a:r>
            <a:r>
              <a:rPr lang="de-AT" dirty="0"/>
              <a:t>_</a:t>
            </a:r>
            <a:r>
              <a:rPr dirty="0"/>
              <a:t> │-&gt;│ </a:t>
            </a:r>
            <a:r>
              <a:rPr dirty="0" err="1"/>
              <a:t>find_dft</a:t>
            </a:r>
            <a:r>
              <a:rPr dirty="0"/>
              <a:t>_ │-&gt;│ eigenvector</a:t>
            </a:r>
            <a:r>
              <a:rPr lang="de-AT" dirty="0"/>
              <a:t>_</a:t>
            </a:r>
            <a:r>
              <a:rPr dirty="0"/>
              <a:t> │-&gt;│ </a:t>
            </a:r>
            <a:r>
              <a:rPr dirty="0" err="1"/>
              <a:t>kde</a:t>
            </a:r>
            <a:r>
              <a:rPr dirty="0"/>
              <a:t>_      │-&gt;│ calculate_ │-&gt;│ plot_      </a:t>
            </a:r>
            <a:r>
              <a:rPr lang="de-AT" dirty="0"/>
              <a:t> </a:t>
            </a:r>
            <a:r>
              <a:rPr dirty="0"/>
              <a:t>│</a:t>
            </a:r>
            <a:r>
              <a:rPr lang="de-AT" dirty="0"/>
              <a:t> </a:t>
            </a:r>
            <a:r>
              <a:rPr dirty="0"/>
              <a:t>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C9D1D9"/>
                </a:solidFill>
                <a:latin typeface="Consolas"/>
              </a:defRPr>
            </a:pPr>
            <a:r>
              <a:rPr dirty="0"/>
              <a:t>│  │ results()</a:t>
            </a:r>
            <a:r>
              <a:rPr lang="de-AT" dirty="0"/>
              <a:t> </a:t>
            </a:r>
            <a:r>
              <a:rPr dirty="0"/>
              <a:t>│  │ baseline()│  │ matching() </a:t>
            </a:r>
            <a:r>
              <a:rPr lang="de-AT" dirty="0"/>
              <a:t> </a:t>
            </a:r>
            <a:r>
              <a:rPr dirty="0"/>
              <a:t> │  │ broaden() │  │ metrics()  │  │ regression()│</a:t>
            </a:r>
            <a:r>
              <a:rPr lang="de-AT" dirty="0"/>
              <a:t> </a:t>
            </a:r>
            <a:r>
              <a:rPr dirty="0"/>
              <a:t>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│  └─────────</a:t>
            </a:r>
            <a:r>
              <a:rPr lang="en-US" dirty="0"/>
              <a:t>─</a:t>
            </a:r>
            <a:r>
              <a:rPr dirty="0"/>
              <a:t>─┘  └───────────┘  └───────────</a:t>
            </a:r>
            <a:r>
              <a:rPr lang="en-US" dirty="0"/>
              <a:t>─</a:t>
            </a:r>
            <a:r>
              <a:rPr dirty="0"/>
              <a:t>──┘  └───────────┘  └────────────┘  └───────────</a:t>
            </a:r>
            <a:r>
              <a:rPr lang="en-US" dirty="0"/>
              <a:t>─</a:t>
            </a:r>
            <a:r>
              <a:rPr dirty="0"/>
              <a:t>─┘</a:t>
            </a:r>
            <a:r>
              <a:rPr lang="de-AT" dirty="0"/>
              <a:t> </a:t>
            </a:r>
            <a:r>
              <a:rPr dirty="0"/>
              <a:t>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r>
              <a:rPr lang="en-US" dirty="0"/>
              <a:t>────</a:t>
            </a:r>
            <a:r>
              <a:rPr dirty="0"/>
              <a:t>─</a:t>
            </a:r>
            <a:r>
              <a:rPr lang="en-US" dirty="0"/>
              <a:t>────</a:t>
            </a:r>
            <a:r>
              <a:rPr dirty="0"/>
              <a:t>─┘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                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                               ▼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                          ┌─────────────────────────────────┐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                          │ </a:t>
            </a:r>
            <a:r>
              <a:rPr dirty="0" err="1"/>
              <a:t>generate_html_report</a:t>
            </a:r>
            <a:r>
              <a:rPr dirty="0"/>
              <a:t>()          │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800">
                <a:solidFill>
                  <a:srgbClr val="58A6FF"/>
                </a:solidFill>
                <a:latin typeface="Consolas"/>
              </a:defRPr>
            </a:pPr>
            <a:r>
              <a:rPr dirty="0"/>
              <a:t>                          └─────────────────────────────────┘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1280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 ls -l calculators/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048451" cy="32316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Modular Dipole System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mace_</a:t>
            </a:r>
            <a:r>
              <a:rPr lang="de-AT" dirty="0" err="1"/>
              <a:t>dipole</a:t>
            </a:r>
            <a:r>
              <a:rPr dirty="0"/>
              <a:t>/      # Custom MACE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 err="1"/>
              <a:t>espaloma</a:t>
            </a:r>
            <a:r>
              <a:rPr dirty="0"/>
              <a:t>/         # ML charges</a:t>
            </a: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Implementation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Factory pattern with availability checks</a:t>
            </a:r>
            <a:r>
              <a:rPr lang="de-AT" dirty="0"/>
              <a:t> and </a:t>
            </a:r>
            <a:r>
              <a:rPr lang="de-AT" dirty="0" err="1"/>
              <a:t>warnings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Seamless calculator switching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Automatic combination with available energy calculators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dipole_methods.md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955203" cy="41088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MACE-</a:t>
            </a:r>
            <a:r>
              <a:rPr lang="de-AT" dirty="0"/>
              <a:t>Dipole</a:t>
            </a: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Input → E(3)-equivariant NN → </a:t>
            </a:r>
            <a:r>
              <a:rPr dirty="0" err="1"/>
              <a:t>μ</a:t>
            </a:r>
            <a:r>
              <a:rPr dirty="0"/>
              <a:t> = (</a:t>
            </a:r>
            <a:r>
              <a:rPr dirty="0" err="1"/>
              <a:t>μx</a:t>
            </a:r>
            <a:r>
              <a:rPr dirty="0"/>
              <a:t>, </a:t>
            </a:r>
            <a:r>
              <a:rPr dirty="0" err="1"/>
              <a:t>μy</a:t>
            </a:r>
            <a:r>
              <a:rPr dirty="0"/>
              <a:t>, </a:t>
            </a:r>
            <a:r>
              <a:rPr dirty="0" err="1"/>
              <a:t>μz</a:t>
            </a:r>
            <a:r>
              <a:rPr dirty="0"/>
              <a:t>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Direct dipole prediction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Fast </a:t>
            </a:r>
            <a:endParaRPr lang="de-AT"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/>
              <a:t>→ Requires custom model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Espaloma</a:t>
            </a:r>
            <a:r>
              <a:rPr dirty="0"/>
              <a:t> (Charge-Based)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Predict charges → </a:t>
            </a:r>
            <a:r>
              <a:rPr dirty="0" err="1"/>
              <a:t>μ</a:t>
            </a:r>
            <a:r>
              <a:rPr dirty="0"/>
              <a:t> = </a:t>
            </a:r>
            <a:r>
              <a:rPr dirty="0" err="1"/>
              <a:t>Σ</a:t>
            </a:r>
            <a:r>
              <a:rPr dirty="0"/>
              <a:t> qᵢ·rᵢ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ML partial charges (q₁, q₂, ..., qₙ)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Sum over atomic positions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</a:t>
            </a:r>
            <a:r>
              <a:rPr lang="de-AT" dirty="0" err="1"/>
              <a:t>Available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package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5D27C-5519-9655-98F6-3700479689D8}"/>
              </a:ext>
            </a:extLst>
          </p:cNvPr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9025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</a:t>
            </a:r>
            <a:r>
              <a:rPr lang="en-US" dirty="0"/>
              <a:t> python3 </a:t>
            </a:r>
            <a:r>
              <a:rPr lang="en-US" dirty="0" err="1"/>
              <a:t>workflow_manager.py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060727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Automatic Directory Structure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comparison_results</a:t>
            </a:r>
            <a:r>
              <a:rPr dirty="0"/>
              <a:t>/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  └─ {molecule}/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├─ </a:t>
            </a:r>
            <a:r>
              <a:rPr dirty="0" err="1"/>
              <a:t>geometry_opt</a:t>
            </a:r>
            <a:r>
              <a:rPr dirty="0"/>
              <a:t>/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├─ </a:t>
            </a:r>
            <a:r>
              <a:rPr lang="de-AT" dirty="0"/>
              <a:t>b3lyp</a:t>
            </a:r>
            <a:r>
              <a:rPr dirty="0"/>
              <a:t>/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└─ {energy</a:t>
            </a:r>
            <a:r>
              <a:rPr lang="de-AT" dirty="0"/>
              <a:t>_</a:t>
            </a:r>
            <a:r>
              <a:rPr lang="de-AT" dirty="0" err="1"/>
              <a:t>calc</a:t>
            </a:r>
            <a:r>
              <a:rPr dirty="0"/>
              <a:t>}_{dipole</a:t>
            </a:r>
            <a:r>
              <a:rPr lang="de-AT" dirty="0"/>
              <a:t>_</a:t>
            </a:r>
            <a:r>
              <a:rPr lang="de-AT" dirty="0" err="1"/>
              <a:t>calc</a:t>
            </a:r>
            <a:r>
              <a:rPr dirty="0"/>
              <a:t>}/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Created on-the-fly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Organized by calculator combination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Smart File Detection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Auto-detect existing calculations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Skip completed steps</a:t>
            </a:r>
            <a:endParaRPr lang="de-AT"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/>
              <a:t>→ Find DFT baseline automatically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ECA02-8EE0-EC26-4484-D17FDCB53204}"/>
              </a:ext>
            </a:extLst>
          </p:cNvPr>
          <p:cNvSpPr txBox="1"/>
          <p:nvPr/>
        </p:nvSpPr>
        <p:spPr>
          <a:xfrm>
            <a:off x="5289879" y="2089859"/>
            <a:ext cx="3563796" cy="2416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lang="en-US" dirty="0"/>
              <a:t># Results Aggregation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Load all JSON results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Convert .</a:t>
            </a:r>
            <a:r>
              <a:rPr lang="en-US" dirty="0" err="1"/>
              <a:t>chk</a:t>
            </a:r>
            <a:r>
              <a:rPr lang="en-US" dirty="0"/>
              <a:t> to .</a:t>
            </a:r>
            <a:r>
              <a:rPr lang="en-US" dirty="0" err="1"/>
              <a:t>fchk</a:t>
            </a:r>
            <a:endParaRPr lang="en-US"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Parse all .log and .</a:t>
            </a:r>
            <a:r>
              <a:rPr lang="en-US" dirty="0" err="1"/>
              <a:t>fchk</a:t>
            </a:r>
            <a:r>
              <a:rPr lang="en-US" dirty="0"/>
              <a:t> files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Match modes across methods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Save tables and plots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Generate unified HTML report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468EA-3345-D31E-1F46-61F81D9A116A}"/>
              </a:ext>
            </a:extLst>
          </p:cNvPr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ls -la parsing/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060727" cy="35240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Gaussian .log Files (2-10 MB)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Harmonic frequencies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Anharmonic frequencies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Overtones &amp; combination bands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IR intensities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Eigenvectors (3N-6 modes)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Challenges: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• Multi-column format (3 modes/block)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• 10,000-50,000 lines to search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33B5B-C0C6-B169-7BF7-3B89AAC2BE0B}"/>
              </a:ext>
            </a:extLst>
          </p:cNvPr>
          <p:cNvSpPr txBox="1"/>
          <p:nvPr/>
        </p:nvSpPr>
        <p:spPr>
          <a:xfrm>
            <a:off x="5422604" y="3005494"/>
            <a:ext cx="45720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lang="en-US" dirty="0"/>
              <a:t># JSON Results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lang="en-US" dirty="0"/>
              <a:t>  {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lang="en-US" dirty="0"/>
              <a:t>    "frequencies": [...],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lang="en-US" dirty="0"/>
              <a:t>    "</a:t>
            </a:r>
            <a:r>
              <a:rPr lang="en-US" dirty="0" err="1"/>
              <a:t>ir_intensities</a:t>
            </a:r>
            <a:r>
              <a:rPr lang="en-US" dirty="0"/>
              <a:t>": [...],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lang="en-US" dirty="0"/>
              <a:t>    "eigenvectors": [[...]]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lang="en-US" dirty="0"/>
              <a:t>  }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lang="en-US"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Structured, easy to analyze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4F38D-0270-9EED-073D-599FF9F29BDE}"/>
              </a:ext>
            </a:extLst>
          </p:cNvPr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mode_matching.md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358886" cy="46935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Problem: Frequency Order Mismatch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DFT:  [500, 1200, 1500, 2900, 3100] cm⁻¹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ML:   [498, 3095, 1205, 2895, 1498] cm⁻¹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Cannot compare by index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Solution: Eigenvector Dot Product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similarity = |</a:t>
            </a:r>
            <a:r>
              <a:rPr dirty="0" err="1"/>
              <a:t>v_ML</a:t>
            </a:r>
            <a:r>
              <a:rPr dirty="0"/>
              <a:t> · </a:t>
            </a:r>
            <a:r>
              <a:rPr dirty="0" err="1"/>
              <a:t>v_DFT</a:t>
            </a:r>
            <a:r>
              <a:rPr dirty="0"/>
              <a:t>|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Compare atomic displacement patterns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Find best match </a:t>
            </a:r>
            <a:endParaRPr lang="de-AT"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/>
              <a:t>→ Robust to frequency ordering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Example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lang="en-US" dirty="0"/>
              <a:t>  ML 3095 cm⁻¹ → DFT 1200 cm⁻¹ [0.027]</a:t>
            </a:r>
            <a:endParaRPr dirty="0"/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/>
              <a:t>  ML 3095 cm⁻¹ → DFT 3100 cm⁻¹ [0.989]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07211-D841-E9E3-B583-CD28CF381E1A}"/>
              </a:ext>
            </a:extLst>
          </p:cNvPr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478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 </a:t>
            </a:r>
            <a:r>
              <a:rPr lang="de-AT" dirty="0"/>
              <a:t>cd</a:t>
            </a:r>
            <a:r>
              <a:rPr dirty="0"/>
              <a:t> </a:t>
            </a:r>
            <a:r>
              <a:rPr lang="de-AT" dirty="0" err="1"/>
              <a:t>results</a:t>
            </a:r>
            <a:r>
              <a:rPr lang="de-AT" dirty="0"/>
              <a:t>/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36502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</a:t>
            </a:r>
            <a:r>
              <a:rPr lang="de-AT" dirty="0"/>
              <a:t>Summary in Form </a:t>
            </a:r>
            <a:r>
              <a:rPr lang="de-AT" dirty="0" err="1"/>
              <a:t>of</a:t>
            </a:r>
            <a:r>
              <a:rPr lang="de-AT" dirty="0"/>
              <a:t> HTML Report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water.html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git log --oneline --graph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52134" cy="38164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Current Status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ZMQ bridge implemented &amp; working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</a:t>
            </a:r>
            <a:r>
              <a:rPr lang="de-AT" dirty="0"/>
              <a:t>Small </a:t>
            </a:r>
            <a:r>
              <a:rPr lang="de-AT" dirty="0" err="1"/>
              <a:t>molecule</a:t>
            </a:r>
            <a:r>
              <a:rPr dirty="0"/>
              <a:t> benchmark</a:t>
            </a:r>
            <a:r>
              <a:rPr lang="de-AT" dirty="0"/>
              <a:t>s </a:t>
            </a:r>
            <a:r>
              <a:rPr lang="de-AT" dirty="0" err="1"/>
              <a:t>validation</a:t>
            </a:r>
            <a:r>
              <a:rPr lang="de-AT" dirty="0"/>
              <a:t> in </a:t>
            </a:r>
            <a:r>
              <a:rPr lang="de-AT" dirty="0" err="1"/>
              <a:t>progress</a:t>
            </a:r>
            <a:r>
              <a:rPr dirty="0"/>
              <a:t> 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/>
              <a:t>→ </a:t>
            </a:r>
            <a:r>
              <a:rPr lang="de-AT" dirty="0"/>
              <a:t>Solid </a:t>
            </a:r>
            <a:r>
              <a:rPr lang="de-AT" dirty="0" err="1"/>
              <a:t>automated</a:t>
            </a:r>
            <a:r>
              <a:rPr lang="de-AT" dirty="0"/>
              <a:t> </a:t>
            </a:r>
            <a:r>
              <a:rPr lang="de-AT" dirty="0" err="1"/>
              <a:t>workflow</a:t>
            </a:r>
            <a:r>
              <a:rPr lang="de-AT" dirty="0"/>
              <a:t> </a:t>
            </a:r>
            <a:r>
              <a:rPr lang="de-AT" dirty="0" err="1"/>
              <a:t>orchestration</a:t>
            </a:r>
            <a:r>
              <a:rPr lang="de-AT" dirty="0"/>
              <a:t> in </a:t>
            </a:r>
            <a:r>
              <a:rPr lang="de-AT" dirty="0" err="1"/>
              <a:t>place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</a:t>
            </a:r>
            <a:r>
              <a:rPr lang="de-AT" dirty="0" err="1"/>
              <a:t>Comparison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methods</a:t>
            </a:r>
            <a:r>
              <a:rPr lang="de-AT" dirty="0"/>
              <a:t> in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place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Next Steps</a:t>
            </a:r>
            <a:endParaRPr lang="de-AT"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Expand to larger molecules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lang="en-US" dirty="0"/>
              <a:t>  → Anharmonic frequency analysis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</a:t>
            </a:r>
            <a:r>
              <a:rPr lang="de-AT" dirty="0"/>
              <a:t>Command </a:t>
            </a:r>
            <a:r>
              <a:rPr lang="de-AT" dirty="0" err="1"/>
              <a:t>line</a:t>
            </a:r>
            <a:r>
              <a:rPr lang="de-AT" dirty="0"/>
              <a:t> interface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ORCA support (</a:t>
            </a:r>
            <a:r>
              <a:rPr lang="de-AT" dirty="0"/>
              <a:t>open source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8DFBA-4BF7-F135-B8D9-CFDA50DD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0DCF9-C18A-9944-8051-2B571C99E7A0}"/>
              </a:ext>
            </a:extLst>
          </p:cNvPr>
          <p:cNvSpPr txBox="1"/>
          <p:nvPr/>
        </p:nvSpPr>
        <p:spPr>
          <a:xfrm>
            <a:off x="914400" y="2286000"/>
            <a:ext cx="38010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Consolas"/>
              </a:defRPr>
            </a:pPr>
            <a:r>
              <a:rPr dirty="0"/>
              <a:t>$ ./</a:t>
            </a:r>
            <a:r>
              <a:rPr lang="de-AT" dirty="0" err="1"/>
              <a:t>questions</a:t>
            </a:r>
            <a:r>
              <a:rPr dirty="0"/>
              <a:t>.</a:t>
            </a:r>
            <a:r>
              <a:rPr dirty="0" err="1"/>
              <a:t>sh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BA7A6-1854-9A97-D19C-8B875254391B}"/>
              </a:ext>
            </a:extLst>
          </p:cNvPr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rPr dirty="0"/>
              <a:t>Manuel Ott · Hofer Lab · 2025-11-19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5C5E3-B280-6A65-C48D-E78D03C47D13}"/>
              </a:ext>
            </a:extLst>
          </p:cNvPr>
          <p:cNvSpPr txBox="1"/>
          <p:nvPr/>
        </p:nvSpPr>
        <p:spPr>
          <a:xfrm>
            <a:off x="5103627" y="4338083"/>
            <a:ext cx="2232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06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module_swap.py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Dual MACE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 err="1"/>
              <a:t>mace_ML_pkg</a:t>
            </a:r>
            <a:r>
              <a:rPr dirty="0"/>
              <a:t>/          # Standard MACE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rPr dirty="0" err="1"/>
              <a:t>mace_dipole_pkg</a:t>
            </a:r>
            <a:r>
              <a:rPr dirty="0"/>
              <a:t>/      # Custom fork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Implementation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Dynamic module replacement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Cache invalidation required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Cleanup after dipole calculations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Challenge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Prevent module contamination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Thread-safe switching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zmq_bridge.md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458272" cy="38164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Inter-Process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1. Gaussian calls external program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2. Helper script connects via ZMQ socket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3. Main process receives geometry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4. ML calculator computes dipoles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5. Results written to Gaussian format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6. Gaussian continues calculation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rPr dirty="0"/>
              <a:t># Key Innovation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Real-time injection of ML </a:t>
            </a:r>
            <a:r>
              <a:rPr lang="de-AT" dirty="0" err="1"/>
              <a:t>energy</a:t>
            </a:r>
            <a:r>
              <a:rPr lang="de-AT" dirty="0"/>
              <a:t>/</a:t>
            </a:r>
            <a:r>
              <a:rPr lang="de-AT" dirty="0" err="1"/>
              <a:t>forces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No modification to Gaussian source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rPr dirty="0"/>
              <a:t>  → File-based IPC for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CC45E-4867-0218-7BB0-080CC1B9CADC}"/>
              </a:ext>
            </a:extLst>
          </p:cNvPr>
          <p:cNvSpPr txBox="1"/>
          <p:nvPr/>
        </p:nvSpPr>
        <p:spPr>
          <a:xfrm>
            <a:off x="4572000" y="822960"/>
            <a:ext cx="4339650" cy="33804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rPr dirty="0"/>
              <a:t>┌─────────────────────┐        ┌─────────────────────┐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rPr dirty="0"/>
              <a:t>│  Main Process       │</a:t>
            </a:r>
            <a:r>
              <a:rPr lang="de-AT" dirty="0"/>
              <a:t>&lt;</a:t>
            </a:r>
            <a:r>
              <a:rPr dirty="0"/>
              <a:t>──────</a:t>
            </a:r>
            <a:r>
              <a:rPr lang="de-AT" dirty="0"/>
              <a:t>&gt;</a:t>
            </a:r>
            <a:r>
              <a:rPr dirty="0"/>
              <a:t>│  Gaussian 16       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rPr dirty="0"/>
              <a:t>│  (Python)           │  ZMQ   │  (Fortran)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rPr dirty="0"/>
              <a:t>│  </a:t>
            </a:r>
            <a:r>
              <a:rPr dirty="0">
                <a:solidFill>
                  <a:schemeClr val="bg1"/>
                </a:solidFill>
              </a:rPr>
              <a:t>• ZMQ server       </a:t>
            </a:r>
            <a:r>
              <a:rPr dirty="0"/>
              <a:t>│        │  </a:t>
            </a:r>
            <a:r>
              <a:rPr dirty="0">
                <a:solidFill>
                  <a:schemeClr val="bg1"/>
                </a:solidFill>
              </a:rPr>
              <a:t>• Freq calculation </a:t>
            </a:r>
            <a:r>
              <a:rPr dirty="0"/>
              <a:t>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rPr dirty="0"/>
              <a:t>│  </a:t>
            </a:r>
            <a:r>
              <a:rPr dirty="0">
                <a:solidFill>
                  <a:schemeClr val="bg1"/>
                </a:solidFill>
              </a:rPr>
              <a:t>• ML dipole calc   </a:t>
            </a:r>
            <a:r>
              <a:rPr dirty="0"/>
              <a:t>│        │  </a:t>
            </a:r>
            <a:r>
              <a:rPr dirty="0">
                <a:solidFill>
                  <a:schemeClr val="bg1"/>
                </a:solidFill>
              </a:rPr>
              <a:t>• Calls external   </a:t>
            </a:r>
            <a:r>
              <a:rPr dirty="0"/>
              <a:t>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rPr dirty="0"/>
              <a:t>└─────────────────────┘        └─────────────────────┘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▲                                 │  ▲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│                                 │  │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│         </a:t>
            </a:r>
            <a:r>
              <a:rPr lang="de-AT" dirty="0"/>
              <a:t>   				 </a:t>
            </a:r>
            <a:r>
              <a:rPr dirty="0"/>
              <a:t>│  │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rPr dirty="0"/>
              <a:t>         │                                 ▼  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rPr dirty="0"/>
              <a:t>         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│</a:t>
            </a:r>
            <a:r>
              <a:rPr dirty="0"/>
              <a:t>          ┌─────────────────────────────┐  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rPr dirty="0"/>
              <a:t>         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└─────────</a:t>
            </a:r>
            <a:r>
              <a:rPr lang="de-AT" dirty="0">
                <a:solidFill>
                  <a:schemeClr val="bg1">
                    <a:lumMod val="65000"/>
                  </a:schemeClr>
                </a:solidFill>
              </a:rPr>
              <a:t>&gt;</a:t>
            </a:r>
            <a:r>
              <a:rPr dirty="0"/>
              <a:t>│  Helper </a:t>
            </a:r>
            <a:r>
              <a:rPr lang="de-AT" dirty="0" err="1"/>
              <a:t>Script</a:t>
            </a:r>
            <a:r>
              <a:rPr lang="de-AT" dirty="0"/>
              <a:t> (Python)     </a:t>
            </a:r>
            <a:r>
              <a:rPr dirty="0"/>
              <a:t>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rPr dirty="0"/>
              <a:t>                    │  </a:t>
            </a:r>
            <a:r>
              <a:rPr dirty="0">
                <a:solidFill>
                  <a:schemeClr val="bg1"/>
                </a:solidFill>
              </a:rPr>
              <a:t>• Bridge between processes </a:t>
            </a:r>
            <a:r>
              <a:rPr dirty="0"/>
              <a:t>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rPr dirty="0"/>
              <a:t>                    │  </a:t>
            </a:r>
            <a:r>
              <a:rPr dirty="0">
                <a:solidFill>
                  <a:schemeClr val="bg1"/>
                </a:solidFill>
              </a:rPr>
              <a:t>• Sends file paths         </a:t>
            </a:r>
            <a:r>
              <a:rPr dirty="0"/>
              <a:t>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rPr dirty="0"/>
              <a:t>                    │  </a:t>
            </a:r>
            <a:r>
              <a:rPr dirty="0">
                <a:solidFill>
                  <a:schemeClr val="bg1"/>
                </a:solidFill>
              </a:rPr>
              <a:t>• Waits for completion     </a:t>
            </a:r>
            <a:r>
              <a:rPr dirty="0"/>
              <a:t>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rPr dirty="0"/>
              <a:t>                    └─────────────────────────────┘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6212</TotalTime>
  <Words>1262</Words>
  <Application>Microsoft Macintosh PowerPoint</Application>
  <PresentationFormat>On-screen Show (4:3)</PresentationFormat>
  <Paragraphs>218</Paragraphs>
  <Slides>13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Ott, Manuel</cp:lastModifiedBy>
  <cp:revision>10</cp:revision>
  <dcterms:created xsi:type="dcterms:W3CDTF">2013-01-27T09:14:16Z</dcterms:created>
  <dcterms:modified xsi:type="dcterms:W3CDTF">2025-11-21T15:58:07Z</dcterms:modified>
  <cp:category/>
</cp:coreProperties>
</file>