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85000"/>
              </a:lnSpc>
              <a:defRPr sz="6000" b="1">
                <a:solidFill>
                  <a:srgbClr val="FFFFFF"/>
                </a:solidFill>
                <a:latin typeface="Arial Black"/>
              </a:defRPr>
            </a:pPr>
            <a:r>
              <a:t>MACE</a:t>
            </a:r>
          </a:p>
          <a:p>
            <a:r>
              <a:t>GAUSSIAN</a:t>
            </a:r>
          </a:p>
          <a:p>
            <a:r>
              <a:t>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389120"/>
            <a:ext cx="2743200" cy="914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ML / QM HYBRID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  <a:defRPr sz="1800">
                <a:solidFill>
                  <a:srgbClr val="FFFFFF"/>
                </a:solidFill>
                <a:latin typeface="Arial"/>
              </a:defRPr>
            </a:pPr>
            <a:r>
              <a:t>DFT SLOW</a:t>
            </a:r>
          </a:p>
          <a:p>
            <a:r>
              <a:t>EXPENSIVE</a:t>
            </a:r>
          </a:p>
          <a:p>
            <a:r>
              <a:t>LIMITED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731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  <a:defRPr sz="1800">
                <a:solidFill>
                  <a:srgbClr val="000000"/>
                </a:solidFill>
                <a:latin typeface="Arial"/>
              </a:defRPr>
            </a:pPr>
            <a:r>
              <a:t>ML FAST</a:t>
            </a:r>
          </a:p>
          <a:p>
            <a:r>
              <a:t>HYBRID ACCURATE</a:t>
            </a:r>
          </a:p>
          <a:p>
            <a:r>
              <a:t>100× SPEEDUP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0"/>
            <a:ext cx="9144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