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58A6FF"/>
                </a:solidFill>
                <a:latin typeface="Consolas"/>
              </a:defRPr>
            </a:pPr>
            <a:r>
              <a:t>$ ./presentation.sh</a:t>
            </a:r>
          </a:p>
          <a:p>
            <a:r>
              <a:t>&gt; MACE-Gaussian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B949E"/>
                </a:solidFill>
                <a:latin typeface="Consolas"/>
              </a:defRPr>
            </a:pPr>
            <a:r>
              <a:t>// ML-accelerated anharmonic spectroscopy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8B949E"/>
                </a:solidFill>
                <a:latin typeface="Consolas"/>
              </a:defRPr>
            </a:pPr>
            <a:r>
              <a:t>Your Name · Research Group · 2025-11-15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motivation.md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anharmonic: computationally expensive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Hours to days per molecule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Limited throughput for screening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ML potentials: 10-100× faster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Maintain accuracy via hybrid approach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Enable high-throughput predictions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Impact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Rapid spectral database generation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Practical molecular screening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8B949E"/>
                </a:solidFill>
                <a:latin typeface="Consolas"/>
              </a:defRPr>
            </a:pPr>
            <a:r>
              <a:t>Your Name · Research Group · 2025-11-15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architecture.md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System Architecture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┌─────────────┐      ┌──────────────┐</a:t>
            </a:r>
          </a:p>
          <a:p>
            <a:pPr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│ MACE        │──────│ Gaussian 16  │</a:t>
            </a:r>
          </a:p>
          <a:p>
            <a:pPr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│ (Python)    │ ZMQ  │ (Fortran)    │</a:t>
            </a:r>
          </a:p>
          <a:p>
            <a:pPr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└─────────────┘      └──────────────┘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Components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Geometry optimization: MACE-OMOL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Energy calculation: Gaussian/MACE-MP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Dipole derivatives: ML calculators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Anharmonic analysis: Gaussian VPT2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8B949E"/>
                </a:solidFill>
                <a:latin typeface="Consolas"/>
              </a:defRPr>
            </a:pPr>
            <a:r>
              <a:t>Your Name · Research Group · 2025-11-15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zmq_bridge.md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Inter-Process Communication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1. Gaussian calls external program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2. Helper script connects via ZMQ socket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3. Main process receives geometry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4. ML calculator computes dipoles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5. Results written to Gaussian format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6. Gaussian continues calculation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Key Innovation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Real-time injection of ML predictions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No modification to Gaussian source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File-based IPC for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8B949E"/>
                </a:solidFill>
                <a:latin typeface="Consolas"/>
              </a:defRPr>
            </a:pPr>
            <a:r>
              <a:t>Your Name · Research Group · 2025-11-15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-la calculators/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Modular Dipole System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drwxr-xr-x  mace_ml/          # Primary</a:t>
            </a:r>
          </a:p>
          <a:p>
            <a:pPr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drwxr-xr-x  espaloma/         # Fallback</a:t>
            </a:r>
          </a:p>
          <a:p>
            <a:pPr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drwxr-xr-x  xtb/              # Fast</a:t>
            </a:r>
          </a:p>
          <a:p>
            <a:pPr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drwxr-xr-x  geometry_based/   # Last resort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Features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Automatic fallback chain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Custom MACE dipole model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Charge-based dipole (Espaloma)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Semi-empirical xTB 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8B949E"/>
                </a:solidFill>
                <a:latin typeface="Consolas"/>
              </a:defRPr>
            </a:pPr>
            <a:r>
              <a:t>Your Name · Research Group · 2025-11-15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module_swap.py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Dual MACE Architecture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mace_ML_pkg/          # Standard MACE</a:t>
            </a:r>
          </a:p>
          <a:p>
            <a:pPr>
              <a:spcAft>
                <a:spcPts val="6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mace_dipole_pkg/      # Custom fork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Implementation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Dynamic module replacement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Cache invalidation required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Cleanup after dipole calculations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Challenge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Prevent module contamination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Thread-safe switching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8B949E"/>
                </a:solidFill>
                <a:latin typeface="Consolas"/>
              </a:defRPr>
            </a:pPr>
            <a:r>
              <a:t>Your Name · Research Group · 2025-11-15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validation.md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Eigenvector-Based Matching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Compare DFT vs ML normal modes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Dot product similarity threshold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Handle mode ordering differences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Metrics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MAE (Mean Absolute Error)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RMSE (Root Mean Square Error)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R² (Coefficient of Determination)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Slope/intercept analysis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Spectral Analysis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Gaussian KDE broadening (8 cm⁻¹)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8B949E"/>
                </a:solidFill>
                <a:latin typeface="Consolas"/>
              </a:defRPr>
            </a:pPr>
            <a:r>
              <a:t>Your Name · Research Group · 2025-11-15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 analyze_spectra.py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Frequency Predictions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Test molecules: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Water (H₂O)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Acetic acid (CH₃COOH)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Accuracy vs DFT Baseline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Fundamentals:    MAE &lt; 15 cm⁻¹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Overtones:       MAE &lt; 30 cm⁻¹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Combinations:    MAE &lt; 25 cm⁻¹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Performance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50-100× speedup over pure DFT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8B949E"/>
                </a:solidFill>
                <a:latin typeface="Consolas"/>
              </a:defRPr>
            </a:pPr>
            <a:r>
              <a:t>Your Name · Research Group · 2025-11-15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grep 'overtone' results.json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Anharmonic Analysis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Gaussian VPT2 framework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Overtones: 2ν₁, 2ν₂, ...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Combination bands: ν₁+ν₂, ν₁+ν₃, ...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Parser Implementation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Regex matching for 2(X) patterns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Handle X(1) + Y(1) combinations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Separate harmonic/anharmonic sections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Challenges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Missing anharmonic data in some calcs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Mode numbering consistency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8B949E"/>
                </a:solidFill>
                <a:latin typeface="Consolas"/>
              </a:defRPr>
            </a:pPr>
            <a:r>
              <a:t>Your Name · Research Group · 2025-11-15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./run_analysis.py water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End-to-End Workflow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1. Geometry optimization (MACE)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2. Frequency calculation (Gaussian + ML)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3. Anharmonic VPT2 (Gaussian)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4. Parse results (JSON)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5. Statistical analysis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6. HTML report generation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Automation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Hierarchical directory structure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Automatic DFT baseline detection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Publication-ready visualizations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8B949E"/>
                </a:solidFill>
                <a:latin typeface="Consolas"/>
              </a:defRPr>
            </a:pPr>
            <a:r>
              <a:t>Your Name · Research Group · 2025-11-15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git log --oneline --graph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Current Status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Proof of concept validated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Water &amp; acetic acid benchmarks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Automated analysis pipeline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Next Steps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Expand molecular test set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Support ORCA quantum chemistry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Additional ML potentials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Optimize dipole model training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Vision</a:t>
            </a:r>
          </a:p>
          <a:p>
            <a:pPr>
              <a:spcAft>
                <a:spcPts val="6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Universal ML-QM spectroscopy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8B949E"/>
                </a:solidFill>
                <a:latin typeface="Consolas"/>
              </a:defRPr>
            </a:pPr>
            <a:r>
              <a:t>Your Name · Research Group · 2025-11-15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