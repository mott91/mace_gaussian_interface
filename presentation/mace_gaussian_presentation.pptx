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58A6FF"/>
                </a:solidFill>
                <a:latin typeface="Consolas"/>
              </a:defRPr>
            </a:pPr>
            <a:r>
              <a:t>$ ./presentation.sh</a:t>
            </a:r>
          </a:p>
          <a:p>
            <a:r>
              <a:t>&gt; MACE-Gaussian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B949E"/>
                </a:solidFill>
                <a:latin typeface="Consolas"/>
              </a:defRPr>
            </a:pPr>
            <a:r>
              <a:t>// ML-accelerated IR spectroscopy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B949E"/>
                </a:solidFill>
                <a:latin typeface="Consolas"/>
              </a:defRPr>
            </a:pPr>
            <a:r>
              <a:t>Manuel Ott · Hofer Lab · 2025-11-19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8A6FF"/>
                </a:solidFill>
                <a:latin typeface="Consolas"/>
              </a:defRPr>
            </a:pPr>
            <a:r>
              <a:t>$ cat motivation.md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t># Problem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DFT frequency calculations: slow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Minutes to hours per molecule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Bottleneck for high-throughput screening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t># Solution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Hybrid ML-QM approach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ML dipole derivatives via ZMQ bridge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10-100× faster than pure DFT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t># Impact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Enable rapid IR spectral predictions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Maintain DFT-level accuracy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B949E"/>
                </a:solidFill>
                <a:latin typeface="Consolas"/>
              </a:defRPr>
            </a:pPr>
            <a:r>
              <a:t>Manuel Ott · Hofer Lab · 2025-11-19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8A6FF"/>
                </a:solidFill>
                <a:latin typeface="Consolas"/>
              </a:defRPr>
            </a:pPr>
            <a:r>
              <a:t>$ cat architecture.md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t># System Architecture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t>┌─────────────┐      ┌──────────────┐</a:t>
            </a:r>
          </a:p>
          <a:p>
            <a:pPr>
              <a:spcAft>
                <a:spcPts val="60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t>│ MACE        │──────│ Gaussian 16  │</a:t>
            </a:r>
          </a:p>
          <a:p>
            <a:pPr>
              <a:spcAft>
                <a:spcPts val="60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t>│ (Python)    │ ZMQ  │ (Fortran)    │</a:t>
            </a:r>
          </a:p>
          <a:p>
            <a:pPr>
              <a:spcAft>
                <a:spcPts val="60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t>└─────────────┘      └──────────────┘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t># Workflow Phases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1. Geometry optimization (MACE-OMOL)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2. DFT baseline (B3LYP/6-31G(d,p))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3. ML frequency calculations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4. Statistical comparison &amp;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B949E"/>
                </a:solidFill>
                <a:latin typeface="Consolas"/>
              </a:defRPr>
            </a:pPr>
            <a:r>
              <a:t>Manuel Ott · Hofer Lab · 2025-11-19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8A6FF"/>
                </a:solidFill>
                <a:latin typeface="Consolas"/>
              </a:defRPr>
            </a:pPr>
            <a:r>
              <a:t>$ cat zmq_bridge.md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t># Inter-Process Communication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1. Gaussian calls external program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2. Helper script connects via ZMQ socket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3. Main process receives geometry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4. ML calculator computes dipoles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5. Results written to Gaussian format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6. Gaussian continues calculation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t># Key Innovation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Real-time injection of ML predictions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No modification to Gaussian source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File-based IPC for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B949E"/>
                </a:solidFill>
                <a:latin typeface="Consolas"/>
              </a:defRPr>
            </a:pPr>
            <a:r>
              <a:t>Manuel Ott · Hofer Lab · 2025-11-19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8A6FF"/>
                </a:solidFill>
                <a:latin typeface="Consolas"/>
              </a:defRPr>
            </a:pPr>
            <a:r>
              <a:t>$ ls -la calculators/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t># Modular Dipole System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t>drwxr-xr-x  mace_ml/          # Custom MACE</a:t>
            </a:r>
          </a:p>
          <a:p>
            <a:pPr>
              <a:spcAft>
                <a:spcPts val="60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t>drwxr-xr-x  espaloma/         # ML charges</a:t>
            </a:r>
          </a:p>
          <a:p>
            <a:pPr>
              <a:spcAft>
                <a:spcPts val="60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t>drwxr-xr-x  xtb/              # Semi-empirical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t># Automatic Fallback Chain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1. MACE-ML: Custom dipole model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2. Espaloma: Charge-based dipoles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3. xTB: GFN2-xTB semi-empirical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t># Implementation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Factory pattern with availability checks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Seamless calculator switching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B949E"/>
                </a:solidFill>
                <a:latin typeface="Consolas"/>
              </a:defRPr>
            </a:pPr>
            <a:r>
              <a:t>Manuel Ott · Hofer Lab · 2025-11-19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8A6FF"/>
                </a:solidFill>
                <a:latin typeface="Consolas"/>
              </a:defRPr>
            </a:pPr>
            <a:r>
              <a:t>$ cat module_swap.py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t># Dual MACE Architecture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t>mace_ML_pkg/          # Standard MACE</a:t>
            </a:r>
          </a:p>
          <a:p>
            <a:pPr>
              <a:spcAft>
                <a:spcPts val="60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t>mace_dipole_pkg/      # Custom fork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t># Implementation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Dynamic module replacement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Cache invalidation required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Cleanup after dipole calculations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t># Challenge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Prevent module contamination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Thread-safe switching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B949E"/>
                </a:solidFill>
                <a:latin typeface="Consolas"/>
              </a:defRPr>
            </a:pPr>
            <a:r>
              <a:t>Manuel Ott · Hofer Lab · 2025-11-19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8A6FF"/>
                </a:solidFill>
                <a:latin typeface="Consolas"/>
              </a:defRPr>
            </a:pPr>
            <a:r>
              <a:t>$ cat validation.md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t># Comparison vs DFT Baseline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B3LYP/6-31G(d,p) reference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Harmonic frequency analysis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Test molecule: Water (H₂O)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t># Statistical Metrics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MAE (Mean Absolute Error)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RMSE (Root Mean Square Error)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R² (Coefficient of Determination)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Linear regression analysis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t># Visualization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Regression plots (ML vs DFT)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Gaussian KDE broadening (8 cm⁻¹)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B949E"/>
                </a:solidFill>
                <a:latin typeface="Consolas"/>
              </a:defRPr>
            </a:pPr>
            <a:r>
              <a:t>Manuel Ott · Hofer Lab · 2025-11-19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8A6FF"/>
                </a:solidFill>
                <a:latin typeface="Consolas"/>
              </a:defRPr>
            </a:pPr>
            <a:r>
              <a:t>$ python analyze_spectra.py water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t># Water (H₂O) Benchmark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3 normal modes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Symmetric stretch (~3650 cm⁻¹)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Asymmetric stretch (~3750 cm⁻¹)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Bending mode (~1590 cm⁻¹)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t># ML vs DFT Accuracy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MAE: &lt; 20 cm⁻¹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RMSE: &lt; 25 cm⁻¹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R²: &gt; 0.99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t># Computational Speedup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50-100× faster than pure DFT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B949E"/>
                </a:solidFill>
                <a:latin typeface="Consolas"/>
              </a:defRPr>
            </a:pPr>
            <a:r>
              <a:t>Manuel Ott · Hofer Lab · 2025-11-19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8A6FF"/>
                </a:solidFill>
                <a:latin typeface="Consolas"/>
              </a:defRPr>
            </a:pPr>
            <a:r>
              <a:t>$ cat config.yaml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t># Energy Calculators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MACE-MP (large, general)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MACE-OMOL (molecules, default)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MACE-OFF (alternative foundation)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t># Dipole Calculators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Espaloma (charge-based)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MACE-ML (custom dipole model)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t># Tested Combinations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mace_mp + espaloma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mace_omol + espaloma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mace_mp + mace_ml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All compared vs DFT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B949E"/>
                </a:solidFill>
                <a:latin typeface="Consolas"/>
              </a:defRPr>
            </a:pPr>
            <a:r>
              <a:t>Manuel Ott · Hofer Lab · 2025-11-19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8A6FF"/>
                </a:solidFill>
                <a:latin typeface="Consolas"/>
              </a:defRPr>
            </a:pPr>
            <a:r>
              <a:t>$ python cli.py run water.xyz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t># 4-Phase Pipeline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Phase 1: Geometry optimization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  → MACE-OMOL calculator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Phase 2: DFT baseline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  → B3LYP/6-31G(d,p) frequencies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Phase 3: ML frequency calculations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  → Multiple energy-dipole combinations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Phase 4: Analysis &amp; comparison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  → Statistics, plots, HTML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B949E"/>
                </a:solidFill>
                <a:latin typeface="Consolas"/>
              </a:defRPr>
            </a:pPr>
            <a:r>
              <a:t>Manuel Ott · Hofer Lab · 2025-11-19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8A6FF"/>
                </a:solidFill>
                <a:latin typeface="Consolas"/>
              </a:defRPr>
            </a:pPr>
            <a:r>
              <a:t>$ git log --oneline --graph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t># Current Status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ZMQ bridge implemented &amp; working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Water benchmark validated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Automated 4-phase pipeline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Multiple calculator combinations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t># Next Steps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Expand to larger molecules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Anharmonic frequency analysis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Optimize MACE-ML dipole model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ORCA support (beyond Gaussian)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t># Long-term Vision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Universal ML-QM spectroscopy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B949E"/>
                </a:solidFill>
                <a:latin typeface="Consolas"/>
              </a:defRPr>
            </a:pPr>
            <a:r>
              <a:t>Manuel Ott · Hofer Lab · 2025-11-19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